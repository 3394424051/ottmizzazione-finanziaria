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2" r:id="rId5"/>
    <p:sldId id="282" r:id="rId6"/>
    <p:sldId id="263" r:id="rId7"/>
    <p:sldId id="284" r:id="rId8"/>
    <p:sldId id="264" r:id="rId9"/>
    <p:sldId id="265" r:id="rId10"/>
    <p:sldId id="280" r:id="rId11"/>
    <p:sldId id="267" r:id="rId12"/>
    <p:sldId id="281" r:id="rId13"/>
    <p:sldId id="269" r:id="rId14"/>
    <p:sldId id="279" r:id="rId15"/>
    <p:sldId id="270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predefinita" id="{7092F5EE-D5B3-4289-A7CC-C8C30E7055A2}">
          <p14:sldIdLst>
            <p14:sldId id="256"/>
            <p14:sldId id="257"/>
            <p14:sldId id="258"/>
            <p14:sldId id="262"/>
            <p14:sldId id="282"/>
            <p14:sldId id="263"/>
          </p14:sldIdLst>
        </p14:section>
        <p14:section name="Sezione senza titolo" id="{6F0C88EB-0424-48C2-8957-EC1D984EB257}">
          <p14:sldIdLst>
            <p14:sldId id="284"/>
            <p14:sldId id="264"/>
            <p14:sldId id="265"/>
            <p14:sldId id="280"/>
            <p14:sldId id="267"/>
            <p14:sldId id="281"/>
            <p14:sldId id="269"/>
            <p14:sldId id="279"/>
            <p14:sldId id="270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50EA07-C130-4A8E-B987-F580007E0483}" type="datetimeFigureOut">
              <a:rPr lang="it-IT" smtClean="0"/>
              <a:t>26/08/2026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37BBDD-4C2F-4CF9-B636-B3FB27DDB3A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1041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37BBDD-4C2F-4CF9-B636-B3FB27DDB3AE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39376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D5cAo5O6xZ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  <a:latin typeface="Georgia"/>
              </a:defRPr>
            </a:pPr>
            <a:r>
              <a:rPr dirty="0" err="1"/>
              <a:t>Ottimizzazione</a:t>
            </a:r>
            <a:r>
              <a:rPr dirty="0"/>
              <a:t> </a:t>
            </a:r>
            <a:r>
              <a:rPr dirty="0" err="1"/>
              <a:t>Quantistica</a:t>
            </a:r>
            <a:r>
              <a:rPr dirty="0"/>
              <a:t> di un </a:t>
            </a:r>
            <a:r>
              <a:rPr dirty="0" err="1"/>
              <a:t>Portafoglio</a:t>
            </a:r>
            <a:r>
              <a:rPr dirty="0"/>
              <a:t> </a:t>
            </a:r>
            <a:r>
              <a:rPr dirty="0" err="1"/>
              <a:t>Azionario</a:t>
            </a:r>
            <a:endParaRPr dirty="0"/>
          </a:p>
          <a:p>
            <a:pPr algn="ctr">
              <a:defRPr sz="2000">
                <a:solidFill>
                  <a:srgbClr val="475569"/>
                </a:solidFill>
                <a:latin typeface="Arial"/>
              </a:defRPr>
            </a:pPr>
            <a:r>
              <a:rPr dirty="0"/>
              <a:t>Quantum Finance, Portfolio Selection &amp; QAOA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Dataset di Riferimento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dirty="0"/>
              <a:t>Asset </a:t>
            </a:r>
            <a:r>
              <a:rPr dirty="0" err="1"/>
              <a:t>inclusi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paniere</a:t>
            </a:r>
            <a:r>
              <a:rPr dirty="0"/>
              <a:t> di </a:t>
            </a:r>
            <a:r>
              <a:rPr dirty="0" err="1"/>
              <a:t>analisi</a:t>
            </a:r>
            <a:r>
              <a:rPr dirty="0"/>
              <a:t>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IONQ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QBTS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RGTI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IBM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GOOGL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MSFT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NVDA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• QQQ</a:t>
            </a:r>
          </a:p>
          <a:p>
            <a:br>
              <a:rPr dirty="0"/>
            </a:br>
            <a:r>
              <a:rPr dirty="0"/>
              <a:t>Fonte: </a:t>
            </a:r>
            <a:r>
              <a:rPr dirty="0" err="1"/>
              <a:t>Prezzi</a:t>
            </a:r>
            <a:r>
              <a:rPr dirty="0"/>
              <a:t> </a:t>
            </a:r>
            <a:r>
              <a:rPr dirty="0" err="1"/>
              <a:t>storici</a:t>
            </a:r>
            <a:r>
              <a:rPr dirty="0"/>
              <a:t> </a:t>
            </a:r>
            <a:r>
              <a:rPr dirty="0" err="1"/>
              <a:t>giornalieri</a:t>
            </a:r>
            <a:endParaRPr lang="it-IT" dirty="0"/>
          </a:p>
          <a:p>
            <a:r>
              <a:rPr lang="it-IT"/>
              <a:t>Dai </a:t>
            </a:r>
            <a:r>
              <a:rPr lang="it-IT" dirty="0"/>
              <a:t>prezzi si calcolano rendimenti attesi e matrice di covarianza.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Perché il Quantum Computing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rPr sz="1000" dirty="0"/>
              <a:t>Il </a:t>
            </a:r>
            <a:r>
              <a:rPr sz="1000" dirty="0" err="1"/>
              <a:t>Problema</a:t>
            </a:r>
            <a:r>
              <a:rPr sz="1000" dirty="0"/>
              <a:t> di </a:t>
            </a:r>
            <a:r>
              <a:rPr sz="1000" dirty="0" err="1"/>
              <a:t>Portafoglio</a:t>
            </a:r>
            <a:r>
              <a:rPr sz="1000" dirty="0"/>
              <a:t>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sz="1000" dirty="0"/>
              <a:t>• </a:t>
            </a:r>
            <a:r>
              <a:rPr sz="1000" dirty="0" err="1"/>
              <a:t>Scegliere</a:t>
            </a:r>
            <a:r>
              <a:rPr sz="1000" dirty="0"/>
              <a:t> </a:t>
            </a:r>
            <a:r>
              <a:rPr sz="1000" dirty="0" err="1"/>
              <a:t>i</a:t>
            </a:r>
            <a:r>
              <a:rPr sz="1000" dirty="0"/>
              <a:t> </a:t>
            </a:r>
            <a:r>
              <a:rPr sz="1000" dirty="0" err="1"/>
              <a:t>titoli</a:t>
            </a:r>
            <a:r>
              <a:rPr sz="1000" dirty="0"/>
              <a:t> </a:t>
            </a:r>
            <a:r>
              <a:rPr sz="1000" dirty="0" err="1"/>
              <a:t>migliori</a:t>
            </a:r>
            <a:endParaRPr sz="1000" dirty="0"/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sz="1000" dirty="0"/>
              <a:t>• </a:t>
            </a:r>
            <a:r>
              <a:rPr sz="1000" dirty="0" err="1"/>
              <a:t>Massimizzare</a:t>
            </a:r>
            <a:r>
              <a:rPr sz="1000" dirty="0"/>
              <a:t> il </a:t>
            </a:r>
            <a:r>
              <a:rPr sz="1000" dirty="0" err="1"/>
              <a:t>rendimento</a:t>
            </a:r>
            <a:r>
              <a:rPr sz="1000" dirty="0"/>
              <a:t> </a:t>
            </a:r>
            <a:r>
              <a:rPr sz="1000" dirty="0" err="1"/>
              <a:t>atteso</a:t>
            </a:r>
            <a:endParaRPr sz="1000" dirty="0"/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sz="1000" dirty="0"/>
              <a:t>• </a:t>
            </a:r>
            <a:r>
              <a:rPr sz="1000" dirty="0" err="1"/>
              <a:t>Minimizzare</a:t>
            </a:r>
            <a:r>
              <a:rPr sz="1000" dirty="0"/>
              <a:t> il </a:t>
            </a:r>
            <a:r>
              <a:rPr sz="1000" dirty="0" err="1"/>
              <a:t>rischio</a:t>
            </a:r>
            <a:r>
              <a:rPr sz="1000" dirty="0"/>
              <a:t> </a:t>
            </a:r>
            <a:r>
              <a:rPr sz="1000" dirty="0" err="1"/>
              <a:t>complessivo</a:t>
            </a:r>
            <a:r>
              <a:rPr lang="it-IT" sz="1000" dirty="0"/>
              <a:t>                       </a:t>
            </a:r>
            <a:r>
              <a:rPr lang="it-IT" sz="1600" b="1" dirty="0"/>
              <a:t>Modello: Ricerca Esaustiva (Brute Force) in forma matriciale 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sz="1000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sz="1000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sz="1000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sz="1000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dirty="0"/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C0230EAA-4147-2074-25CE-4409397FA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71" y="2927220"/>
            <a:ext cx="3600953" cy="2076740"/>
          </a:xfrm>
          <a:prstGeom prst="rect">
            <a:avLst/>
          </a:prstGeom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D2DCB30A-3581-CFA2-B13B-1A3244B2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124" y="2492305"/>
            <a:ext cx="2667372" cy="400106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9177E221-79CD-300F-02A8-0D7F25EBB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09" y="5287286"/>
            <a:ext cx="2114845" cy="7843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dirty="0">
                <a:solidFill>
                  <a:srgbClr val="002060"/>
                </a:solidFill>
                <a:latin typeface="Georgia" panose="02040502050405020303" pitchFamily="18" charset="0"/>
              </a:rPr>
              <a:t>Modello di </a:t>
            </a:r>
            <a:r>
              <a:rPr lang="it-IT" sz="2800" dirty="0">
                <a:solidFill>
                  <a:srgbClr val="002060"/>
                </a:solidFill>
              </a:rPr>
              <a:t>Markowitz</a:t>
            </a:r>
            <a:r>
              <a:rPr lang="it-IT" sz="2800" dirty="0"/>
              <a:t> in formulazione matriciale </a:t>
            </a:r>
            <a:r>
              <a:rPr sz="2800" dirty="0">
                <a:solidFill>
                  <a:srgbClr val="002060"/>
                </a:solidFill>
                <a:latin typeface="Georgia" panose="02040502050405020303" pitchFamily="18" charset="0"/>
              </a:rPr>
              <a:t>QUBO</a:t>
            </a:r>
            <a:r>
              <a:rPr lang="it-IT" sz="2800" dirty="0">
                <a:solidFill>
                  <a:srgbClr val="002060"/>
                </a:solidFill>
                <a:latin typeface="Georgia" panose="02040502050405020303" pitchFamily="18" charset="0"/>
              </a:rPr>
              <a:t> </a:t>
            </a:r>
          </a:p>
          <a:p>
            <a:r>
              <a:rPr lang="it-IT" b="1" dirty="0" err="1"/>
              <a:t>Obiettivo:</a:t>
            </a:r>
            <a:r>
              <a:rPr lang="it-IT" dirty="0" err="1"/>
              <a:t>trovare</a:t>
            </a:r>
            <a:r>
              <a:rPr lang="it-IT" dirty="0"/>
              <a:t> il portafoglio che offre il miglior compromesso tra rendimento e rischio.	</a:t>
            </a:r>
          </a:p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lang="it-IT" sz="1600" dirty="0"/>
              <a:t>Funzione obiettivo in </a:t>
            </a:r>
            <a:r>
              <a:rPr sz="1600" dirty="0" err="1"/>
              <a:t>Formulazione</a:t>
            </a:r>
            <a:r>
              <a:rPr sz="1600" dirty="0"/>
              <a:t> </a:t>
            </a:r>
            <a:r>
              <a:rPr lang="it-IT" sz="1600" dirty="0"/>
              <a:t>matriciale </a:t>
            </a:r>
            <a:r>
              <a:rPr sz="1600" dirty="0"/>
              <a:t>QUBO:</a:t>
            </a:r>
            <a:r>
              <a:rPr lang="it-IT" sz="1600" dirty="0"/>
              <a:t> 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C37CB9A1-E8C6-F815-AB3B-C3315A27B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007" y="2340752"/>
            <a:ext cx="7201905" cy="4334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78FA56-8EEE-C1D5-95FA-07EA5FC1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06C2-2250-6BE6-F9A0-F11FF0E5218E}"/>
              </a:ext>
            </a:extLst>
          </p:cNvPr>
          <p:cNvSpPr txBox="1"/>
          <p:nvPr/>
        </p:nvSpPr>
        <p:spPr>
          <a:xfrm>
            <a:off x="731520" y="457200"/>
            <a:ext cx="1069848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dirty="0">
                <a:solidFill>
                  <a:srgbClr val="002060"/>
                </a:solidFill>
                <a:latin typeface="Georgia" panose="02040502050405020303" pitchFamily="18" charset="0"/>
              </a:rPr>
              <a:t>Modello di </a:t>
            </a:r>
            <a:r>
              <a:rPr lang="it-IT" sz="2800" dirty="0">
                <a:solidFill>
                  <a:srgbClr val="002060"/>
                </a:solidFill>
              </a:rPr>
              <a:t>Markowitz</a:t>
            </a:r>
            <a:r>
              <a:rPr lang="it-IT" sz="2800" dirty="0"/>
              <a:t> in formulazione estesa </a:t>
            </a:r>
            <a:r>
              <a:rPr sz="2800" dirty="0">
                <a:solidFill>
                  <a:srgbClr val="002060"/>
                </a:solidFill>
                <a:latin typeface="Georgia" panose="02040502050405020303" pitchFamily="18" charset="0"/>
              </a:rPr>
              <a:t>QUBO</a:t>
            </a:r>
            <a:endParaRPr lang="it-IT" sz="2800" dirty="0">
              <a:solidFill>
                <a:srgbClr val="002060"/>
              </a:solidFill>
              <a:latin typeface="Georgia" panose="02040502050405020303" pitchFamily="18" charset="0"/>
            </a:endParaRPr>
          </a:p>
          <a:p>
            <a:r>
              <a:rPr lang="it-IT" b="1" dirty="0" err="1"/>
              <a:t>Obiettivo:</a:t>
            </a:r>
            <a:r>
              <a:rPr lang="it-IT" dirty="0" err="1"/>
              <a:t>trovare</a:t>
            </a:r>
            <a:r>
              <a:rPr lang="it-IT" dirty="0"/>
              <a:t> il portafoglio che offre il miglior compromesso tra rendimento e rischio.	</a:t>
            </a:r>
          </a:p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74A0BE-73B4-FCBB-BB08-583B3DCC73E3}"/>
              </a:ext>
            </a:extLst>
          </p:cNvPr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08B19C-F9CE-5E37-B243-12FBEB763E85}"/>
              </a:ext>
            </a:extLst>
          </p:cNvPr>
          <p:cNvSpPr txBox="1"/>
          <p:nvPr/>
        </p:nvSpPr>
        <p:spPr>
          <a:xfrm>
            <a:off x="731520" y="164592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lang="it-IT" b="1" dirty="0"/>
              <a:t>FUNZIONE OBIETTIVO IN FORMULAZIONE GENERALE ESTESA QUBO:</a:t>
            </a:r>
            <a:endParaRPr b="1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449E356-A633-F27F-A09D-F3D4592CA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511265"/>
            <a:ext cx="8842248" cy="369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63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rPr lang="it-IT" sz="2800" b="1" dirty="0">
                <a:solidFill>
                  <a:srgbClr val="002060"/>
                </a:solidFill>
              </a:rPr>
              <a:t>Dalla funzione obiettivo all'Hamiltoniano di costo</a:t>
            </a:r>
            <a:endParaRPr lang="it-IT" dirty="0"/>
          </a:p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rPr dirty="0"/>
              <a:t>Passo 1: </a:t>
            </a:r>
            <a:r>
              <a:rPr dirty="0" err="1"/>
              <a:t>Variabili</a:t>
            </a:r>
            <a:r>
              <a:rPr dirty="0"/>
              <a:t> </a:t>
            </a:r>
            <a:r>
              <a:rPr dirty="0" err="1"/>
              <a:t>Binarie</a:t>
            </a:r>
            <a:r>
              <a:rPr dirty="0"/>
              <a:t> -&gt; Qubit</a:t>
            </a:r>
          </a:p>
        </p:txBody>
      </p:sp>
      <p:sp>
        <p:nvSpPr>
          <p:cNvPr id="3" name="Rectangle 2"/>
          <p:cNvSpPr/>
          <p:nvPr/>
        </p:nvSpPr>
        <p:spPr>
          <a:xfrm flipV="1">
            <a:off x="731520" y="1746503"/>
            <a:ext cx="10698480" cy="45719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 err="1"/>
              <a:t>Mappatura</a:t>
            </a:r>
            <a:r>
              <a:rPr dirty="0"/>
              <a:t> Qubit: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In un computer </a:t>
            </a:r>
            <a:r>
              <a:rPr dirty="0" err="1"/>
              <a:t>quantistico</a:t>
            </a:r>
            <a:r>
              <a:rPr dirty="0"/>
              <a:t> ogni </a:t>
            </a:r>
            <a:r>
              <a:rPr dirty="0" err="1"/>
              <a:t>variabile</a:t>
            </a:r>
            <a:r>
              <a:rPr dirty="0"/>
              <a:t> </a:t>
            </a:r>
            <a:r>
              <a:rPr dirty="0" err="1"/>
              <a:t>binaria</a:t>
            </a:r>
            <a:r>
              <a:rPr dirty="0"/>
              <a:t> xi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rappresentata</a:t>
            </a:r>
            <a:r>
              <a:rPr dirty="0"/>
              <a:t> da un qubit.</a:t>
            </a:r>
            <a:br>
              <a:rPr dirty="0"/>
            </a:br>
            <a:br>
              <a:rPr dirty="0"/>
            </a:br>
            <a:r>
              <a:rPr dirty="0" err="1"/>
              <a:t>Esempio</a:t>
            </a:r>
            <a:r>
              <a:rPr dirty="0"/>
              <a:t>:</a:t>
            </a:r>
            <a:br>
              <a:rPr dirty="0"/>
            </a:br>
            <a:r>
              <a:rPr dirty="0"/>
              <a:t>• IONQ -&gt; x_0 -&gt; q_0</a:t>
            </a:r>
            <a:br>
              <a:rPr dirty="0"/>
            </a:br>
            <a:r>
              <a:rPr dirty="0"/>
              <a:t>• QBTS -&gt; x_1 -&gt; q_1</a:t>
            </a:r>
            <a:br>
              <a:rPr dirty="0"/>
            </a:br>
            <a:r>
              <a:rPr dirty="0"/>
              <a:t>• RGTI -&gt; x_2 -&gt; q_2</a:t>
            </a:r>
            <a:br>
              <a:rPr dirty="0"/>
            </a:br>
            <a:r>
              <a:rPr dirty="0"/>
              <a:t>•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E90604C4-EF6D-994C-71F2-D45195C5D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3651"/>
            <a:ext cx="12192000" cy="5924348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F96FF6B-BBBA-63EA-64C4-DD4459E01B85}"/>
              </a:ext>
            </a:extLst>
          </p:cNvPr>
          <p:cNvSpPr/>
          <p:nvPr/>
        </p:nvSpPr>
        <p:spPr>
          <a:xfrm>
            <a:off x="134754" y="211756"/>
            <a:ext cx="3455469" cy="4908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RIQUADRO</a:t>
            </a:r>
          </a:p>
        </p:txBody>
      </p:sp>
    </p:spTree>
    <p:extLst>
      <p:ext uri="{BB962C8B-B14F-4D97-AF65-F5344CB8AC3E}">
        <p14:creationId xmlns:p14="http://schemas.microsoft.com/office/powerpoint/2010/main" val="149186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Passo 2: Conversione in Operatori Quantistici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 err="1"/>
              <a:t>Operatori</a:t>
            </a:r>
            <a:r>
              <a:rPr dirty="0"/>
              <a:t> di Pauli: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endParaRPr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FE23B7B4-4403-F7CA-DA28-67B8A8C56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82" y="2145319"/>
            <a:ext cx="5449060" cy="404869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Passo 3: Sostituzione nella Funzione QUBO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 err="1"/>
              <a:t>Sostituzione</a:t>
            </a:r>
            <a:r>
              <a:rPr dirty="0"/>
              <a:t> </a:t>
            </a:r>
            <a:r>
              <a:rPr dirty="0" err="1"/>
              <a:t>algebrica</a:t>
            </a:r>
            <a:r>
              <a:rPr dirty="0"/>
              <a:t>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dirty="0"/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Nella </a:t>
            </a:r>
            <a:r>
              <a:rPr dirty="0" err="1"/>
              <a:t>funzione</a:t>
            </a:r>
            <a:r>
              <a:rPr dirty="0"/>
              <a:t> </a:t>
            </a:r>
            <a:r>
              <a:rPr lang="it-IT" dirty="0"/>
              <a:t>estesa </a:t>
            </a:r>
            <a:r>
              <a:rPr dirty="0"/>
              <a:t>QUBO</a:t>
            </a:r>
            <a:r>
              <a:rPr lang="pl-PL" dirty="0"/>
              <a:t> </a:t>
            </a:r>
            <a:r>
              <a:rPr lang="it-IT" dirty="0"/>
              <a:t>:</a:t>
            </a:r>
            <a:endParaRPr lang="pl-PL" dirty="0"/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sostituisce</a:t>
            </a:r>
            <a:r>
              <a:rPr dirty="0"/>
              <a:t> x</a:t>
            </a:r>
            <a:r>
              <a:rPr lang="it-IT" dirty="0"/>
              <a:t>i</a:t>
            </a:r>
            <a:r>
              <a:rPr dirty="0"/>
              <a:t> = (1 - Z</a:t>
            </a:r>
            <a:r>
              <a:rPr lang="it-IT" dirty="0"/>
              <a:t>i</a:t>
            </a:r>
            <a:r>
              <a:rPr dirty="0"/>
              <a:t>) / 2 </a:t>
            </a:r>
            <a:endParaRPr lang="it-IT" dirty="0"/>
          </a:p>
          <a:p>
            <a:pPr>
              <a:defRPr sz="1800">
                <a:solidFill>
                  <a:srgbClr val="475569"/>
                </a:solidFill>
              </a:defRPr>
            </a:pPr>
            <a:endParaRPr lang="it-IT" dirty="0"/>
          </a:p>
          <a:p>
            <a:r>
              <a:rPr dirty="0" err="1"/>
              <a:t>ottenendo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formula </a:t>
            </a:r>
            <a:r>
              <a:rPr dirty="0" err="1"/>
              <a:t>composta</a:t>
            </a:r>
            <a:r>
              <a:rPr dirty="0"/>
              <a:t> da:</a:t>
            </a:r>
            <a:br>
              <a:rPr dirty="0"/>
            </a:br>
            <a:br>
              <a:rPr dirty="0"/>
            </a:br>
            <a:r>
              <a:rPr dirty="0"/>
              <a:t>• (</a:t>
            </a:r>
            <a:r>
              <a:rPr dirty="0" err="1"/>
              <a:t>identità</a:t>
            </a:r>
            <a:r>
              <a:rPr dirty="0"/>
              <a:t>)</a:t>
            </a:r>
            <a:r>
              <a:rPr lang="it-IT" dirty="0"/>
              <a:t>    𝐼 	</a:t>
            </a:r>
          </a:p>
          <a:p>
            <a:br>
              <a:rPr dirty="0"/>
            </a:br>
            <a:r>
              <a:rPr dirty="0"/>
              <a:t>• (</a:t>
            </a:r>
            <a:r>
              <a:rPr dirty="0" err="1"/>
              <a:t>interazioni</a:t>
            </a:r>
            <a:r>
              <a:rPr dirty="0"/>
              <a:t> </a:t>
            </a:r>
            <a:r>
              <a:rPr dirty="0" err="1"/>
              <a:t>singole</a:t>
            </a:r>
            <a:r>
              <a:rPr dirty="0"/>
              <a:t>)</a:t>
            </a:r>
            <a:r>
              <a:rPr lang="it-IT" dirty="0"/>
              <a:t>   𝑍𝑖 	</a:t>
            </a:r>
          </a:p>
          <a:p>
            <a:br>
              <a:rPr dirty="0"/>
            </a:br>
            <a:r>
              <a:rPr dirty="0"/>
              <a:t>• (</a:t>
            </a:r>
            <a:r>
              <a:rPr dirty="0" err="1"/>
              <a:t>interazioni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coppie</a:t>
            </a:r>
            <a:r>
              <a:rPr dirty="0"/>
              <a:t> di qubit)</a:t>
            </a:r>
            <a:r>
              <a:rPr lang="it-IT" dirty="0"/>
              <a:t> 𝑍𝑖𝑍𝑗 	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endParaRPr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A65D2FC-EF08-FE44-349A-D135DC0F8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366" y="2006295"/>
            <a:ext cx="3762900" cy="7240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795EA-A544-1202-D324-7747B0C5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FC262D-EF85-926F-413A-32D94B995ECB}"/>
              </a:ext>
            </a:extLst>
          </p:cNvPr>
          <p:cNvSpPr txBox="1"/>
          <p:nvPr/>
        </p:nvSpPr>
        <p:spPr>
          <a:xfrm>
            <a:off x="731520" y="457200"/>
            <a:ext cx="10698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rPr lang="it-IT" dirty="0"/>
              <a:t>Passo 4:</a:t>
            </a:r>
            <a:r>
              <a:rPr dirty="0"/>
              <a:t>Cost Hamiltonian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2B8542-35D1-DCA3-AE5E-8416F7E9F5AF}"/>
              </a:ext>
            </a:extLst>
          </p:cNvPr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DEF41-8F32-9C27-9E2D-A00709EDFB7A}"/>
              </a:ext>
            </a:extLst>
          </p:cNvPr>
          <p:cNvSpPr txBox="1"/>
          <p:nvPr/>
        </p:nvSpPr>
        <p:spPr>
          <a:xfrm>
            <a:off x="731520" y="1645920"/>
            <a:ext cx="1069848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sz="1600" dirty="0"/>
              <a:t>L'Hamiltoniano di costo è la rappresentazione quantistica della funzione obiettivo QUBO. </a:t>
            </a:r>
          </a:p>
          <a:p>
            <a:r>
              <a:rPr lang="el-GR" sz="1600" dirty="0"/>
              <a:t>𝑓 </a:t>
            </a:r>
            <a:r>
              <a:rPr lang="it-IT" sz="1600" dirty="0"/>
              <a:t>(</a:t>
            </a:r>
            <a:r>
              <a:rPr lang="el-GR" sz="1600" dirty="0"/>
              <a:t>𝑥</a:t>
            </a:r>
            <a:r>
              <a:rPr lang="it-IT" sz="1600" dirty="0"/>
              <a:t>)</a:t>
            </a:r>
            <a:r>
              <a:rPr lang="el-GR" sz="1600" dirty="0"/>
              <a:t> = 𝜇𝑇 𝑥 − 𝑞 𝑥𝑇Σ𝑥 </a:t>
            </a:r>
          </a:p>
          <a:p>
            <a:endParaRPr lang="it-IT" sz="1600" dirty="0"/>
          </a:p>
          <a:p>
            <a:r>
              <a:rPr lang="it-IT" sz="1600" dirty="0"/>
              <a:t>Attraverso la trasformazione 𝑥𝑖 = (1 − 𝑍𝑖)/ 2 </a:t>
            </a:r>
          </a:p>
          <a:p>
            <a:endParaRPr lang="it-IT" sz="1600" dirty="0"/>
          </a:p>
          <a:p>
            <a:r>
              <a:rPr lang="it-IT" sz="1600" dirty="0"/>
              <a:t>la funzione matriciale  finanziaria viene convertita in un operatore quantistico: 	</a:t>
            </a:r>
          </a:p>
          <a:p>
            <a:pPr algn="l"/>
            <a:endParaRPr lang="it-IT" sz="1600" b="0" i="0" u="none" strike="noStrike" baseline="0" dirty="0">
              <a:solidFill>
                <a:srgbClr val="000000"/>
              </a:solidFill>
            </a:endParaRPr>
          </a:p>
          <a:p>
            <a:r>
              <a:rPr lang="si-LK" sz="1600" b="0" i="0" u="none" strike="noStrike" baseline="0" dirty="0">
                <a:solidFill>
                  <a:srgbClr val="000000"/>
                </a:solidFill>
              </a:rPr>
              <a:t>𝐻𝐶 = </a:t>
            </a:r>
            <a:r>
              <a:rPr lang="el-GR" sz="1600" dirty="0"/>
              <a:t>Σ</a:t>
            </a:r>
            <a:r>
              <a:rPr lang="si-LK" sz="1600" b="0" i="0" u="none" strike="noStrike" baseline="0" dirty="0">
                <a:solidFill>
                  <a:srgbClr val="000000"/>
                </a:solidFill>
              </a:rPr>
              <a:t>𝑖 ℎ𝑖 𝑍𝑖 + </a:t>
            </a:r>
            <a:r>
              <a:rPr lang="el-GR" sz="1600" dirty="0"/>
              <a:t>Σ</a:t>
            </a:r>
            <a:r>
              <a:rPr lang="si-LK" sz="1600" b="0" i="0" u="none" strike="noStrike" baseline="0" dirty="0">
                <a:solidFill>
                  <a:srgbClr val="000000"/>
                </a:solidFill>
              </a:rPr>
              <a:t>𝑖,𝑗 𝐽𝑖𝑗 𝑍𝑖𝑍𝑗 	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sz="1600" dirty="0"/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lang="it-IT" sz="1600" dirty="0"/>
              <a:t>Dove: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br>
              <a:rPr lang="it-IT" sz="1600" dirty="0"/>
            </a:br>
            <a:r>
              <a:rPr lang="it-IT" sz="1400" dirty="0"/>
              <a:t>• </a:t>
            </a:r>
            <a:r>
              <a:rPr kumimoji="0" lang="si-LK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Iskoola Pota" panose="020B0502040204020203" pitchFamily="34" charset="0"/>
              </a:rPr>
              <a:t>ℎ𝑖</a:t>
            </a: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Iskoola Pota" panose="020B0502040204020203" pitchFamily="34" charset="0"/>
              </a:rPr>
              <a:t> rappresentano il contributo del singolo asset</a:t>
            </a:r>
            <a:br>
              <a:rPr lang="it-IT" sz="1600" dirty="0"/>
            </a:br>
            <a:r>
              <a:rPr lang="it-IT" sz="1400" dirty="0"/>
              <a:t>• </a:t>
            </a:r>
            <a:r>
              <a:rPr kumimoji="0" lang="si-LK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Iskoola Pota" panose="020B0502040204020203" pitchFamily="34" charset="0"/>
              </a:rPr>
              <a:t>𝐽𝑖𝑗 </a:t>
            </a: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Iskoola Pota" panose="020B0502040204020203" pitchFamily="34" charset="0"/>
              </a:rPr>
              <a:t>rappresentano le correlazioni tra gli asset</a:t>
            </a:r>
            <a:endParaRPr lang="it-IT" sz="1600" dirty="0"/>
          </a:p>
          <a:p>
            <a:endParaRPr lang="it-IT" dirty="0"/>
          </a:p>
          <a:p>
            <a:r>
              <a:rPr lang="it-IT" dirty="0"/>
              <a:t>che codifica rendimento atteso e rischio del portafoglio. </a:t>
            </a:r>
          </a:p>
          <a:p>
            <a:r>
              <a:rPr lang="it-IT" dirty="0"/>
              <a:t>QAOA utilizza questo Hamiltoniano per guidare la ricerca della configurazione di asset con il miglior compromesso rischio-rendimento.	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  <a:p>
            <a:pPr>
              <a:defRPr sz="2200" b="1">
                <a:solidFill>
                  <a:srgbClr val="0F172A"/>
                </a:solidFill>
              </a:defRPr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19103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Interpretazione Finanziaria dell'Hamiltoniano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b="1" dirty="0"/>
              <a:t>Termine lineare     </a:t>
            </a:r>
            <a:r>
              <a:rPr lang="it-IT" dirty="0"/>
              <a:t>𝜇𝑖 𝑥𝑖 </a:t>
            </a:r>
          </a:p>
          <a:p>
            <a:r>
              <a:rPr lang="it-IT" dirty="0"/>
              <a:t>rappresenta il contributo del rendimento del titolo. </a:t>
            </a:r>
          </a:p>
          <a:p>
            <a:r>
              <a:rPr lang="it-IT" dirty="0"/>
              <a:t>Dopo la trasformazione contribuisce ai coefficienti ℎ𝑖 . </a:t>
            </a:r>
          </a:p>
          <a:p>
            <a:endParaRPr lang="it-IT" dirty="0"/>
          </a:p>
          <a:p>
            <a:r>
              <a:rPr lang="it-IT" b="1" dirty="0"/>
              <a:t>Termine quadratico </a:t>
            </a:r>
            <a:r>
              <a:rPr lang="el-GR" dirty="0"/>
              <a:t>Σ𝑖𝑗𝑥𝑖 𝑥𝑗 </a:t>
            </a:r>
            <a:endParaRPr lang="it-IT" dirty="0"/>
          </a:p>
          <a:p>
            <a:endParaRPr lang="el-GR" dirty="0"/>
          </a:p>
          <a:p>
            <a:r>
              <a:rPr lang="it-IT" dirty="0"/>
              <a:t>rappresenta il rischio dovuto alla correlazione tra due titoli. </a:t>
            </a:r>
          </a:p>
          <a:p>
            <a:r>
              <a:rPr lang="it-IT" dirty="0"/>
              <a:t>Dopo la trasformazione genera termini: 𝑍𝑖𝑍𝑗 </a:t>
            </a:r>
          </a:p>
          <a:p>
            <a:endParaRPr lang="it-IT" dirty="0"/>
          </a:p>
          <a:p>
            <a:r>
              <a:rPr lang="it-IT" dirty="0"/>
              <a:t>che descrivono l'interazione tra due qubit.	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50CA-2F3A-F4F4-AA5C-F9C26380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FB031F-ABF7-805D-30F0-AF895EC0CAA9}"/>
              </a:ext>
            </a:extLst>
          </p:cNvPr>
          <p:cNvSpPr txBox="1"/>
          <p:nvPr/>
        </p:nvSpPr>
        <p:spPr>
          <a:xfrm>
            <a:off x="731520" y="457200"/>
            <a:ext cx="10698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rPr lang="it-IT" b="1" dirty="0"/>
              <a:t>IN SINTESI: QAOA</a:t>
            </a:r>
          </a:p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rPr lang="it-IT" b="1" dirty="0"/>
              <a:t> 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72BA27-DBC3-7E21-4F87-A9A41C18A2E3}"/>
              </a:ext>
            </a:extLst>
          </p:cNvPr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0C7E5-2727-C59B-3B7F-216D07A4AAC3}"/>
              </a:ext>
            </a:extLst>
          </p:cNvPr>
          <p:cNvSpPr txBox="1"/>
          <p:nvPr/>
        </p:nvSpPr>
        <p:spPr>
          <a:xfrm>
            <a:off x="731520" y="1645920"/>
            <a:ext cx="106984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Quantum </a:t>
            </a:r>
            <a:r>
              <a:rPr lang="it-IT" sz="1200" dirty="0" err="1">
                <a:solidFill>
                  <a:srgbClr val="000000"/>
                </a:solidFill>
                <a:latin typeface="Segoe UI" panose="020B0502040204020203" pitchFamily="34" charset="0"/>
              </a:rPr>
              <a:t>Approximate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 </a:t>
            </a:r>
            <a:r>
              <a:rPr lang="it-IT" sz="1200" dirty="0" err="1">
                <a:solidFill>
                  <a:srgbClr val="000000"/>
                </a:solidFill>
                <a:latin typeface="Segoe UI" panose="020B0502040204020203" pitchFamily="34" charset="0"/>
              </a:rPr>
              <a:t>Optimization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 </a:t>
            </a:r>
            <a:r>
              <a:rPr lang="it-IT" sz="1200" dirty="0" err="1">
                <a:solidFill>
                  <a:srgbClr val="000000"/>
                </a:solidFill>
                <a:latin typeface="Segoe UI" panose="020B0502040204020203" pitchFamily="34" charset="0"/>
              </a:rPr>
              <a:t>Algorithm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: </a:t>
            </a:r>
          </a:p>
          <a:p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Il problema QUBO viene codificato in un </a:t>
            </a:r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Hamiltoniano di costo 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con gli operatori di Pauli </a:t>
            </a:r>
          </a:p>
          <a:p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QAOA: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prepara uno stato quantistico iniziale;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esplora simultaneamente molte configurazioni di portafoglio;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valuta la funzione obiettivo; </a:t>
            </a:r>
          </a:p>
          <a:p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ricerca la configurazione che massimizza:   </a:t>
            </a:r>
            <a:r>
              <a:rPr lang="el-GR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𝑓 </a:t>
            </a:r>
            <a:r>
              <a:rPr lang="it-IT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(</a:t>
            </a:r>
            <a:r>
              <a:rPr lang="el-GR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𝑥 </a:t>
            </a:r>
            <a:r>
              <a:rPr lang="it-IT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) </a:t>
            </a:r>
            <a:r>
              <a:rPr lang="el-GR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= 𝜇</a:t>
            </a:r>
            <a:r>
              <a:rPr lang="it-IT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^</a:t>
            </a:r>
            <a:r>
              <a:rPr lang="el-GR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𝑇 𝑥 − 𝑞 𝑥</a:t>
            </a:r>
            <a:r>
              <a:rPr lang="it-IT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^</a:t>
            </a:r>
            <a:r>
              <a:rPr lang="el-GR" sz="1200" dirty="0">
                <a:solidFill>
                  <a:srgbClr val="000000"/>
                </a:solidFill>
                <a:latin typeface="Cambria Math" panose="02040503050406030204" pitchFamily="18" charset="0"/>
              </a:rPr>
              <a:t>𝑇Σ𝑥 </a:t>
            </a:r>
            <a:endParaRPr lang="it-IT" sz="1200" dirty="0">
              <a:solidFill>
                <a:srgbClr val="000000"/>
              </a:solidFill>
              <a:latin typeface="Cambria Math" panose="02040503050406030204" pitchFamily="18" charset="0"/>
            </a:endParaRPr>
          </a:p>
          <a:p>
            <a:endParaRPr lang="el-GR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Componenti della formula: </a:t>
            </a:r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b="1" dirty="0" err="1">
                <a:solidFill>
                  <a:srgbClr val="000000"/>
                </a:solidFill>
                <a:latin typeface="Segoe UI" panose="020B0502040204020203" pitchFamily="34" charset="0"/>
              </a:rPr>
              <a:t>μᵀx</a:t>
            </a:r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 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= rendimento atteso del portafoglio </a:t>
            </a:r>
          </a:p>
          <a:p>
            <a:r>
              <a:rPr lang="it-IT" sz="1200" b="1" dirty="0" err="1">
                <a:solidFill>
                  <a:srgbClr val="000000"/>
                </a:solidFill>
                <a:latin typeface="Segoe UI" panose="020B0502040204020203" pitchFamily="34" charset="0"/>
              </a:rPr>
              <a:t>xᵀΣx</a:t>
            </a:r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 </a:t>
            </a:r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= rischio del portafoglio (varianza/covarianza) </a:t>
            </a:r>
          </a:p>
          <a:p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q = coefficiente di avversione al rischio </a:t>
            </a:r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x = vettore binario degli asset selezionati (0 = escluso, 1 = incluso) </a:t>
            </a:r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b="1" dirty="0">
                <a:solidFill>
                  <a:srgbClr val="000000"/>
                </a:solidFill>
                <a:latin typeface="Segoe UI" panose="020B0502040204020203" pitchFamily="34" charset="0"/>
              </a:rPr>
              <a:t>Output </a:t>
            </a:r>
            <a:endParaRPr lang="it-IT" sz="1200" dirty="0">
              <a:solidFill>
                <a:srgbClr val="000000"/>
              </a:solidFill>
              <a:latin typeface="Segoe UI" panose="020B0502040204020203" pitchFamily="34" charset="0"/>
            </a:endParaRP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Asset selezionati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Rendimento atteso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Rischio del portafoglio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Sharpe Ratio 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Portafoglio ottimale. </a:t>
            </a:r>
          </a:p>
          <a:p>
            <a:r>
              <a:rPr lang="it-IT" dirty="0">
                <a:solidFill>
                  <a:srgbClr val="000000"/>
                </a:solidFill>
                <a:latin typeface="Segoe UI" panose="020B0502040204020203" pitchFamily="34" charset="0"/>
              </a:rPr>
              <a:t>	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Il modello di Markowitz viene trasformato in un problema QUBO, che può essere ottimizzato tramite QAOA per individuare il portafoglio più efficiente. 	</a:t>
            </a:r>
          </a:p>
          <a:p>
            <a:r>
              <a:rPr lang="it-IT" sz="1200" dirty="0">
                <a:solidFill>
                  <a:srgbClr val="000000"/>
                </a:solidFill>
                <a:latin typeface="Segoe UI" panose="020B0502040204020203" pitchFamily="34" charset="0"/>
              </a:rPr>
              <a:t>QAOA ricerca la configurazione di asset che massimizza il rendimento atteso e controlla il rischio complessivo del portafoglio.</a:t>
            </a:r>
            <a:r>
              <a:rPr lang="it-IT" dirty="0">
                <a:solidFill>
                  <a:srgbClr val="000000"/>
                </a:solidFill>
                <a:latin typeface="Segoe UI" panose="020B0502040204020203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880211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sz="2800" b="1" dirty="0">
                <a:solidFill>
                  <a:srgbClr val="002060"/>
                </a:solidFill>
              </a:rPr>
              <a:t>Portafoglio Ottimale </a:t>
            </a:r>
            <a:r>
              <a:rPr lang="it-IT" dirty="0"/>
              <a:t>	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dirty="0"/>
              <a:t>Selezione degli asset che massimizzano la funzione obiettivo:  </a:t>
            </a:r>
            <a:r>
              <a:rPr lang="el-GR" dirty="0"/>
              <a:t>𝑓 </a:t>
            </a:r>
            <a:r>
              <a:rPr lang="it-IT" dirty="0"/>
              <a:t>(</a:t>
            </a:r>
            <a:r>
              <a:rPr lang="el-GR" dirty="0"/>
              <a:t>𝑥 </a:t>
            </a:r>
            <a:r>
              <a:rPr lang="it-IT" dirty="0"/>
              <a:t>)</a:t>
            </a:r>
            <a:r>
              <a:rPr lang="el-GR" dirty="0"/>
              <a:t>= 𝜇</a:t>
            </a:r>
            <a:r>
              <a:rPr lang="it-IT" dirty="0"/>
              <a:t>^T</a:t>
            </a:r>
            <a:r>
              <a:rPr lang="el-GR" dirty="0"/>
              <a:t>𝑥 − 𝑞 𝑥</a:t>
            </a:r>
            <a:r>
              <a:rPr lang="it-IT" dirty="0"/>
              <a:t>^</a:t>
            </a:r>
            <a:r>
              <a:rPr lang="el-GR" dirty="0"/>
              <a:t>𝑇Σ𝑥 </a:t>
            </a:r>
          </a:p>
          <a:p>
            <a:r>
              <a:rPr lang="it-IT" b="1" dirty="0"/>
              <a:t>Componenti della formula: </a:t>
            </a:r>
            <a:endParaRPr lang="it-IT" dirty="0"/>
          </a:p>
          <a:p>
            <a:r>
              <a:rPr lang="it-IT" b="1" dirty="0" err="1"/>
              <a:t>μᵀx</a:t>
            </a:r>
            <a:r>
              <a:rPr lang="it-IT" b="1" dirty="0"/>
              <a:t> </a:t>
            </a:r>
            <a:r>
              <a:rPr lang="it-IT" dirty="0"/>
              <a:t>= rendimento atteso del portafoglio </a:t>
            </a:r>
          </a:p>
          <a:p>
            <a:r>
              <a:rPr lang="it-IT" b="1" dirty="0" err="1"/>
              <a:t>xᵀΣx</a:t>
            </a:r>
            <a:r>
              <a:rPr lang="it-IT" b="1" dirty="0"/>
              <a:t> </a:t>
            </a:r>
            <a:r>
              <a:rPr lang="it-IT" dirty="0"/>
              <a:t>= rischio del portafoglio (varianza/covarianza) </a:t>
            </a:r>
          </a:p>
          <a:p>
            <a:r>
              <a:rPr lang="it-IT" b="1" dirty="0"/>
              <a:t>q = coefficiente di avversione al rischio </a:t>
            </a:r>
            <a:endParaRPr lang="it-IT" dirty="0"/>
          </a:p>
          <a:p>
            <a:r>
              <a:rPr lang="it-IT" b="1" dirty="0"/>
              <a:t>x = vettore binario degli asset selezionati (0 = escluso, 1 = incluso) </a:t>
            </a:r>
            <a:endParaRPr lang="it-IT" dirty="0"/>
          </a:p>
          <a:p>
            <a:endParaRPr lang="it-IT" dirty="0"/>
          </a:p>
          <a:p>
            <a:r>
              <a:rPr lang="it-IT" dirty="0"/>
              <a:t>e minimizzano il rischio complessivo. </a:t>
            </a:r>
          </a:p>
          <a:p>
            <a:r>
              <a:rPr lang="it-IT" b="1" dirty="0"/>
              <a:t>Output: </a:t>
            </a:r>
            <a:endParaRPr lang="it-IT" dirty="0"/>
          </a:p>
          <a:p>
            <a:r>
              <a:rPr lang="it-IT" dirty="0"/>
              <a:t>Asset selezionati </a:t>
            </a:r>
          </a:p>
          <a:p>
            <a:r>
              <a:rPr lang="it-IT" dirty="0"/>
              <a:t>Rendimento atteso </a:t>
            </a:r>
          </a:p>
          <a:p>
            <a:r>
              <a:rPr lang="it-IT" dirty="0"/>
              <a:t>Rischio </a:t>
            </a:r>
          </a:p>
          <a:p>
            <a:r>
              <a:rPr lang="it-IT" dirty="0"/>
              <a:t>Sharpe Ratio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	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531EF-EFA7-986C-0B14-71CF08B6A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DAA32C-3FC2-A90A-D2F6-5FB49155A608}"/>
              </a:ext>
            </a:extLst>
          </p:cNvPr>
          <p:cNvSpPr txBox="1"/>
          <p:nvPr/>
        </p:nvSpPr>
        <p:spPr>
          <a:xfrm>
            <a:off x="731520" y="457200"/>
            <a:ext cx="1069848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sz="2800" b="1" dirty="0">
                <a:solidFill>
                  <a:srgbClr val="002060"/>
                </a:solidFill>
              </a:rPr>
              <a:t>Sharpe Ratio</a:t>
            </a:r>
            <a:r>
              <a:rPr lang="it-IT" dirty="0"/>
              <a:t>	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E759ED-2838-9FD1-7E74-8683FAF12433}"/>
              </a:ext>
            </a:extLst>
          </p:cNvPr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1AFC6-BB7D-708E-289B-7BBE42F65F71}"/>
              </a:ext>
            </a:extLst>
          </p:cNvPr>
          <p:cNvSpPr txBox="1"/>
          <p:nvPr/>
        </p:nvSpPr>
        <p:spPr>
          <a:xfrm>
            <a:off x="731520" y="1645920"/>
            <a:ext cx="1069848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  <a:p>
            <a:r>
              <a:rPr lang="it-IT" sz="1400" dirty="0"/>
              <a:t>𝑆ℎ𝑎𝑟𝑝𝑒= (𝑅𝑝−𝑅𝑓)/𝜎𝑝</a:t>
            </a:r>
          </a:p>
          <a:p>
            <a:r>
              <a:rPr lang="it-IT" sz="1400" b="1" dirty="0"/>
              <a:t>Misura il rendimento </a:t>
            </a:r>
            <a:r>
              <a:rPr lang="it-IT" sz="1400" b="1" u="sng" dirty="0">
                <a:solidFill>
                  <a:srgbClr val="FF0000"/>
                </a:solidFill>
              </a:rPr>
              <a:t>ottenuto</a:t>
            </a:r>
            <a:r>
              <a:rPr lang="it-IT" sz="1400" b="1" dirty="0"/>
              <a:t> per ogni unità di rischio assunta.</a:t>
            </a:r>
            <a:endParaRPr lang="it-IT" sz="1400" dirty="0"/>
          </a:p>
          <a:p>
            <a:r>
              <a:rPr lang="it-IT" sz="1400" b="1" dirty="0"/>
              <a:t>Dove:</a:t>
            </a:r>
            <a:endParaRPr lang="it-IT" sz="1400" dirty="0"/>
          </a:p>
          <a:p>
            <a:r>
              <a:rPr lang="it-IT" sz="1400" b="1" dirty="0"/>
              <a:t>Rₚ= rendimento atteso del portafoglio</a:t>
            </a:r>
            <a:endParaRPr lang="it-IT" sz="1400" dirty="0"/>
          </a:p>
          <a:p>
            <a:r>
              <a:rPr lang="it-IT" sz="1400" b="1" dirty="0"/>
              <a:t>Rₑ</a:t>
            </a:r>
            <a:r>
              <a:rPr lang="it-IT" sz="1400" dirty="0"/>
              <a:t>= tasso privo di rischio (Risk-Free Rate)</a:t>
            </a:r>
          </a:p>
          <a:p>
            <a:r>
              <a:rPr lang="el-GR" sz="1400" b="1" dirty="0"/>
              <a:t>σ</a:t>
            </a:r>
            <a:r>
              <a:rPr lang="it-IT" sz="1400" b="1" dirty="0"/>
              <a:t>ₚ= volatilità del portafoglio</a:t>
            </a:r>
            <a:endParaRPr lang="it-IT" sz="1400" dirty="0"/>
          </a:p>
          <a:p>
            <a:endParaRPr lang="it-IT" sz="1400" dirty="0"/>
          </a:p>
          <a:p>
            <a:r>
              <a:rPr lang="it-IT" sz="1400" b="1" dirty="0"/>
              <a:t>Interpretazione</a:t>
            </a:r>
            <a:endParaRPr lang="it-IT" sz="1400" dirty="0"/>
          </a:p>
          <a:p>
            <a:r>
              <a:rPr lang="it-IT" sz="1400" dirty="0"/>
              <a:t>Sharpe Ratio più alto → migliore efficienza del portafoglio</a:t>
            </a:r>
          </a:p>
          <a:p>
            <a:r>
              <a:rPr lang="it-IT" sz="1400" dirty="0"/>
              <a:t>Maggiore rendimento a parità di rischio</a:t>
            </a:r>
          </a:p>
          <a:p>
            <a:r>
              <a:rPr lang="it-IT" sz="1400" dirty="0"/>
              <a:t>Minore rischio a parità di rendimento</a:t>
            </a:r>
          </a:p>
          <a:p>
            <a:r>
              <a:rPr lang="it-IT" sz="1400" b="1" dirty="0"/>
              <a:t>Valori tipici</a:t>
            </a:r>
            <a:r>
              <a:rPr lang="it-IT" sz="1400" dirty="0"/>
              <a:t>	</a:t>
            </a:r>
          </a:p>
          <a:p>
            <a:r>
              <a:rPr lang="it-IT" sz="1400" dirty="0"/>
              <a:t>Sharpe Ratio	Valutazione	</a:t>
            </a:r>
          </a:p>
          <a:p>
            <a:r>
              <a:rPr lang="it-IT" sz="1400" dirty="0"/>
              <a:t>&lt; 1	   Modesto	</a:t>
            </a:r>
          </a:p>
          <a:p>
            <a:r>
              <a:rPr lang="it-IT" sz="1400" dirty="0"/>
              <a:t>1 -2	   Buono	</a:t>
            </a:r>
          </a:p>
          <a:p>
            <a:r>
              <a:rPr lang="it-IT" sz="1400" dirty="0"/>
              <a:t>2 -3	   Molto Buono	</a:t>
            </a:r>
          </a:p>
          <a:p>
            <a:r>
              <a:rPr lang="it-IT" sz="1400" dirty="0"/>
              <a:t>&gt; 3	   Eccellente	</a:t>
            </a:r>
          </a:p>
          <a:p>
            <a:endParaRPr lang="it-IT" dirty="0"/>
          </a:p>
          <a:p>
            <a:r>
              <a:rPr lang="it-IT" b="1" dirty="0"/>
              <a:t>Utilizzando il QAOA si </a:t>
            </a:r>
            <a:r>
              <a:rPr lang="it-IT" b="1" dirty="0" err="1"/>
              <a:t>puo’</a:t>
            </a:r>
            <a:r>
              <a:rPr lang="it-IT" b="1" dirty="0"/>
              <a:t> Misurare il rendimento </a:t>
            </a:r>
            <a:r>
              <a:rPr lang="it-IT" b="1" u="sng" dirty="0">
                <a:solidFill>
                  <a:srgbClr val="FF0000"/>
                </a:solidFill>
              </a:rPr>
              <a:t>atteso</a:t>
            </a:r>
            <a:r>
              <a:rPr lang="it-IT" b="1" dirty="0"/>
              <a:t> per ogni unità di rischio assunta.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12869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Pipeline di Ottimizzazione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Flusso Logico: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Dataset -&gt; Rendimenti -&gt; Covarianza -&gt; QUBO -&gt; QAOA -&gt; Portafoglio Ottimale</a:t>
            </a:r>
            <a:br/>
            <a:br/>
            <a:r>
              <a:t>Output:</a:t>
            </a:r>
            <a:br/>
            <a:r>
              <a:t>• Asset selezionati</a:t>
            </a:r>
            <a:br/>
            <a:r>
              <a:t>• Rendimento atteso</a:t>
            </a:r>
            <a:br/>
            <a:r>
              <a:t>• Rischio del portafoglio</a:t>
            </a:r>
            <a:br/>
            <a:r>
              <a:t>• Sharpe Ratio</a:t>
            </a:r>
            <a:br/>
            <a:r>
              <a:t>• Portafoglio ottimale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Assegnazione Qubit (8 Asset)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8 asset -&gt; 8 qubit: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q_0 : IONQ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q_1 : QBTS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q_2 : RGTI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q_3 : IBM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q_4 : GOOGL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q_5 : MSFT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q_6 : NVDA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q_7 : QQQ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Esecuzione IBM Quantum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Setup Architetturale: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• Backend: service.least_busy()</a:t>
            </a:r>
            <a:br/>
            <a:r>
              <a:t>• Esecuzione: SamplerV2</a:t>
            </a:r>
            <a:br/>
            <a:r>
              <a:t>• Algoritmo: QAOA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Confronto tra Approcci di Ottimizzazione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b="1" dirty="0"/>
          </a:p>
          <a:p>
            <a:r>
              <a:rPr lang="it-IT" b="1" dirty="0"/>
              <a:t>Ottimizzazione Esaustiva (Brute Force) </a:t>
            </a:r>
            <a:endParaRPr lang="it-IT" dirty="0"/>
          </a:p>
          <a:p>
            <a:r>
              <a:rPr lang="it-IT" dirty="0"/>
              <a:t>Valuta </a:t>
            </a:r>
            <a:r>
              <a:rPr lang="it-IT" b="1" dirty="0"/>
              <a:t>tutte le possibili combinazioni </a:t>
            </a:r>
            <a:r>
              <a:rPr lang="it-IT" dirty="0"/>
              <a:t>di portafoglio.</a:t>
            </a:r>
          </a:p>
          <a:p>
            <a:r>
              <a:rPr lang="it-IT" dirty="0"/>
              <a:t>Garantisce la soluzione ottima globale.</a:t>
            </a:r>
          </a:p>
          <a:p>
            <a:r>
              <a:rPr lang="it-IT" dirty="0"/>
              <a:t>Complessità esponenziale:              2^𝑁</a:t>
            </a:r>
          </a:p>
          <a:p>
            <a:r>
              <a:rPr lang="it-IT" dirty="0"/>
              <a:t>Diventa rapidamente impraticabile all'aumentare del numero di asset.</a:t>
            </a:r>
          </a:p>
          <a:p>
            <a:r>
              <a:rPr kumimoji="0" lang="it-IT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it-IT" dirty="0"/>
              <a:t>	</a:t>
            </a:r>
          </a:p>
          <a:p>
            <a:r>
              <a:rPr lang="it-IT" b="1" dirty="0"/>
              <a:t>Ottimizzazione di Markovitz (Classica)</a:t>
            </a:r>
            <a:endParaRPr lang="it-IT" dirty="0"/>
          </a:p>
          <a:p>
            <a:r>
              <a:rPr lang="it-IT" dirty="0"/>
              <a:t>Utilizza algoritmi matematici e tecniche di programmazione quadratica.</a:t>
            </a:r>
          </a:p>
          <a:p>
            <a:r>
              <a:rPr lang="it-IT" dirty="0"/>
              <a:t>Trova soluzioni in tempi molto ridotti anche per centinaia di asset.</a:t>
            </a:r>
          </a:p>
          <a:p>
            <a:r>
              <a:rPr lang="it-IT" dirty="0"/>
              <a:t>Ampiamente utilizzata nella finanza quantitativa.</a:t>
            </a:r>
          </a:p>
          <a:p>
            <a:r>
              <a:rPr lang="it-IT" dirty="0"/>
              <a:t>Può richiedere semplificazioni quando il problema diventa fortemente combinatorio o vincolato.</a:t>
            </a:r>
          </a:p>
          <a:p>
            <a:r>
              <a:rPr lang="it-IT" dirty="0"/>
              <a:t>	</a:t>
            </a:r>
          </a:p>
          <a:p>
            <a:r>
              <a:rPr lang="it-IT" b="1" dirty="0"/>
              <a:t>QAOA (Quantum </a:t>
            </a:r>
            <a:r>
              <a:rPr lang="it-IT" b="1" dirty="0" err="1"/>
              <a:t>Approximate</a:t>
            </a:r>
            <a:r>
              <a:rPr lang="it-IT" b="1" dirty="0"/>
              <a:t> </a:t>
            </a:r>
            <a:r>
              <a:rPr lang="it-IT" b="1" dirty="0" err="1"/>
              <a:t>Optimization</a:t>
            </a:r>
            <a:r>
              <a:rPr lang="it-IT" b="1" dirty="0"/>
              <a:t> </a:t>
            </a:r>
            <a:r>
              <a:rPr lang="it-IT" b="1" dirty="0" err="1"/>
              <a:t>Algorithm</a:t>
            </a:r>
            <a:r>
              <a:rPr lang="it-IT" b="1" dirty="0"/>
              <a:t>)</a:t>
            </a:r>
            <a:endParaRPr lang="it-IT" dirty="0"/>
          </a:p>
          <a:p>
            <a:r>
              <a:rPr lang="it-IT" dirty="0"/>
              <a:t>Converte il problema in forma </a:t>
            </a:r>
            <a:r>
              <a:rPr lang="it-IT" b="1" dirty="0"/>
              <a:t>QUBO</a:t>
            </a:r>
            <a:r>
              <a:rPr lang="it-IT" dirty="0"/>
              <a:t>.</a:t>
            </a:r>
          </a:p>
          <a:p>
            <a:r>
              <a:rPr lang="it-IT" dirty="0"/>
              <a:t>Utilizza qubit e circuiti quantistici per esplorare lo spazio delle soluzioni.</a:t>
            </a:r>
          </a:p>
          <a:p>
            <a:r>
              <a:rPr lang="it-IT" dirty="0"/>
              <a:t>Ricerca configurazioni ad alto rendimento e basso rischio attraverso l'evoluzione quantistica.</a:t>
            </a:r>
          </a:p>
          <a:p>
            <a:r>
              <a:rPr lang="it-IT" dirty="0"/>
              <a:t>Approccio promettente per problemi di ottimizzazione combinatoria su larga scala.</a:t>
            </a:r>
          </a:p>
          <a:p>
            <a:r>
              <a:rPr lang="it-IT" dirty="0"/>
              <a:t>	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Georgia"/>
              </a:defRPr>
            </a:pPr>
            <a:r>
              <a:t>Conclusioni e Prospettive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0849" y="1773141"/>
            <a:ext cx="1069848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Temi </a:t>
            </a:r>
            <a:r>
              <a:rPr dirty="0" err="1"/>
              <a:t>chiave</a:t>
            </a:r>
            <a:r>
              <a:rPr dirty="0"/>
              <a:t> della </a:t>
            </a:r>
            <a:r>
              <a:rPr dirty="0" err="1"/>
              <a:t>presentazione</a:t>
            </a:r>
            <a:r>
              <a:rPr dirty="0"/>
              <a:t>:</a:t>
            </a: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dirty="0"/>
              <a:t>• Finanza </a:t>
            </a:r>
            <a:r>
              <a:rPr dirty="0" err="1"/>
              <a:t>Quantitativa</a:t>
            </a:r>
            <a:endParaRPr lang="it-IT"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lang="it-IT" dirty="0"/>
              <a:t>• Ottimizzazione Esaustiva</a:t>
            </a:r>
            <a:r>
              <a:rPr lang="it-IT" b="1" dirty="0"/>
              <a:t> </a:t>
            </a:r>
            <a:endParaRPr lang="it-IT"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lang="it-IT" dirty="0"/>
              <a:t>• Ottimizzazione di Markovitz (Classica)</a:t>
            </a:r>
            <a:endParaRPr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dirty="0"/>
              <a:t>• QAOA</a:t>
            </a: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dirty="0"/>
              <a:t>• IBM Quantum</a:t>
            </a: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dirty="0"/>
              <a:t>• Quantum Finance</a:t>
            </a:r>
            <a:endParaRPr lang="it-IT" dirty="0"/>
          </a:p>
          <a:p>
            <a:pPr>
              <a:defRPr sz="2000">
                <a:solidFill>
                  <a:srgbClr val="003366"/>
                </a:solidFill>
              </a:defRPr>
            </a:pPr>
            <a:endParaRPr lang="it-IT"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lang="it-IT" dirty="0"/>
              <a:t>Link:</a:t>
            </a: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lang="it-IT" dirty="0"/>
              <a:t>https://github.com/3394424051/Ottmizzazione-Finanziaria</a:t>
            </a: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lang="it-IT" dirty="0">
                <a:hlinkClick r:id="rId2"/>
              </a:rPr>
              <a:t>https://www.youtube.com/watch?v=D5cAo5O6xZM</a:t>
            </a:r>
            <a:endParaRPr lang="it-IT" dirty="0"/>
          </a:p>
          <a:p>
            <a:pPr>
              <a:defRPr sz="2000">
                <a:solidFill>
                  <a:srgbClr val="0033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953</TotalTime>
  <Words>1166</Words>
  <Application>Microsoft Office PowerPoint</Application>
  <PresentationFormat>Widescreen</PresentationFormat>
  <Paragraphs>204</Paragraphs>
  <Slides>19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Cambria Math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Ciccone, Emilio</cp:lastModifiedBy>
  <cp:revision>20</cp:revision>
  <dcterms:created xsi:type="dcterms:W3CDTF">2013-01-27T09:14:16Z</dcterms:created>
  <dcterms:modified xsi:type="dcterms:W3CDTF">2026-08-26T10:49:18Z</dcterms:modified>
  <cp:category/>
</cp:coreProperties>
</file>