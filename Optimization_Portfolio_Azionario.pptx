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2" r:id="rId5"/>
    <p:sldId id="282" r:id="rId6"/>
    <p:sldId id="263" r:id="rId7"/>
    <p:sldId id="264" r:id="rId8"/>
    <p:sldId id="265" r:id="rId9"/>
    <p:sldId id="280" r:id="rId10"/>
    <p:sldId id="267" r:id="rId11"/>
    <p:sldId id="281" r:id="rId12"/>
    <p:sldId id="269" r:id="rId13"/>
    <p:sldId id="279" r:id="rId14"/>
    <p:sldId id="270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102" y="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0EA07-C130-4A8E-B987-F580007E0483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7BBDD-4C2F-4CF9-B636-B3FB27DDB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1041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5cAo5O6xZ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  <a:latin typeface="Georgia"/>
              </a:defRPr>
            </a:pPr>
            <a:r>
              <a:rPr dirty="0" err="1"/>
              <a:t>Ottimizzazione</a:t>
            </a:r>
            <a:r>
              <a:rPr dirty="0"/>
              <a:t> </a:t>
            </a:r>
            <a:r>
              <a:rPr dirty="0" err="1"/>
              <a:t>Quantistica</a:t>
            </a:r>
            <a:r>
              <a:rPr dirty="0"/>
              <a:t> di un </a:t>
            </a:r>
            <a:r>
              <a:rPr dirty="0" err="1"/>
              <a:t>Portafoglio</a:t>
            </a:r>
            <a:r>
              <a:rPr dirty="0"/>
              <a:t> </a:t>
            </a:r>
            <a:r>
              <a:rPr dirty="0" err="1"/>
              <a:t>Azionario</a:t>
            </a:r>
            <a:endParaRPr dirty="0"/>
          </a:p>
          <a:p>
            <a:pPr algn="ctr">
              <a:defRPr sz="2000">
                <a:solidFill>
                  <a:srgbClr val="475569"/>
                </a:solidFill>
                <a:latin typeface="Arial"/>
              </a:defRPr>
            </a:pPr>
            <a:r>
              <a:rPr dirty="0"/>
              <a:t>Quantum Finance, Portfolio Selection &amp; QAOA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Dataset di Riferimento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Asset inclusi nel paniere di analisi: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IONQ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QBTS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RGTI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IBM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GOOGL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MSFT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NVDA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QQQ</a:t>
            </a:r>
          </a:p>
          <a:p>
            <a:br/>
            <a:r>
              <a:t>Fonte: Prezzi storici giornalieri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Perché il Quantum Computing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rPr dirty="0"/>
              <a:t>Il </a:t>
            </a:r>
            <a:r>
              <a:rPr dirty="0" err="1"/>
              <a:t>Problema</a:t>
            </a:r>
            <a:r>
              <a:rPr dirty="0"/>
              <a:t> di </a:t>
            </a:r>
            <a:r>
              <a:rPr dirty="0" err="1"/>
              <a:t>Portafoglio</a:t>
            </a:r>
            <a:r>
              <a:rPr dirty="0"/>
              <a:t>: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dirty="0"/>
              <a:t>• </a:t>
            </a:r>
            <a:r>
              <a:rPr dirty="0" err="1"/>
              <a:t>Scegliere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titoli</a:t>
            </a:r>
            <a:r>
              <a:rPr dirty="0"/>
              <a:t> </a:t>
            </a:r>
            <a:r>
              <a:rPr dirty="0" err="1"/>
              <a:t>migliori</a:t>
            </a:r>
            <a:endParaRPr dirty="0"/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dirty="0"/>
              <a:t>• </a:t>
            </a:r>
            <a:r>
              <a:rPr dirty="0" err="1"/>
              <a:t>Massimizzare</a:t>
            </a:r>
            <a:r>
              <a:rPr dirty="0"/>
              <a:t> il </a:t>
            </a:r>
            <a:r>
              <a:rPr dirty="0" err="1"/>
              <a:t>rendimento</a:t>
            </a:r>
            <a:r>
              <a:rPr dirty="0"/>
              <a:t> </a:t>
            </a:r>
            <a:r>
              <a:rPr dirty="0" err="1"/>
              <a:t>atteso</a:t>
            </a:r>
            <a:endParaRPr dirty="0"/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dirty="0"/>
              <a:t>• </a:t>
            </a:r>
            <a:r>
              <a:rPr dirty="0" err="1"/>
              <a:t>Minimizzare</a:t>
            </a:r>
            <a:r>
              <a:rPr dirty="0"/>
              <a:t> il </a:t>
            </a:r>
            <a:r>
              <a:rPr dirty="0" err="1"/>
              <a:t>rischio</a:t>
            </a:r>
            <a:r>
              <a:rPr dirty="0"/>
              <a:t> </a:t>
            </a:r>
            <a:r>
              <a:rPr dirty="0" err="1"/>
              <a:t>complessivo</a:t>
            </a:r>
            <a:endParaRPr lang="it-IT" dirty="0"/>
          </a:p>
          <a:p>
            <a:pPr>
              <a:defRPr sz="1800">
                <a:solidFill>
                  <a:srgbClr val="475569"/>
                </a:solidFill>
              </a:defRPr>
            </a:pPr>
            <a:endParaRPr lang="it-IT" b="1" dirty="0"/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lang="it-IT" b="1" dirty="0"/>
              <a:t>Modello: Brute Force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endParaRPr lang="it-IT" dirty="0"/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lang="fr-FR" dirty="0"/>
              <a:t>f(x) = </a:t>
            </a:r>
            <a:r>
              <a:rPr lang="fr-FR" dirty="0" err="1"/>
              <a:t>μ^T</a:t>
            </a:r>
            <a:r>
              <a:rPr lang="fr-FR" dirty="0"/>
              <a:t> x -  </a:t>
            </a:r>
            <a:r>
              <a:rPr lang="fr-FR" dirty="0" err="1"/>
              <a:t>x^T</a:t>
            </a:r>
            <a:r>
              <a:rPr lang="fr-FR" dirty="0"/>
              <a:t> Σ x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lang="it-IT" dirty="0"/>
              <a:t>• </a:t>
            </a:r>
            <a:r>
              <a:rPr lang="it-IT" dirty="0" err="1"/>
              <a:t>μ^T</a:t>
            </a:r>
            <a:r>
              <a:rPr lang="it-IT" dirty="0"/>
              <a:t> x = rendimento atteso del portafoglio</a:t>
            </a:r>
            <a:br>
              <a:rPr lang="it-IT" dirty="0"/>
            </a:br>
            <a:r>
              <a:rPr lang="it-IT" dirty="0"/>
              <a:t>• </a:t>
            </a:r>
            <a:r>
              <a:rPr lang="it-IT" dirty="0" err="1"/>
              <a:t>x^T</a:t>
            </a:r>
            <a:r>
              <a:rPr lang="it-IT" dirty="0"/>
              <a:t> Σ x = rischio del portafoglio (varianza/covarianza)</a:t>
            </a:r>
            <a:br>
              <a:rPr lang="it-IT" dirty="0"/>
            </a:br>
            <a:r>
              <a:rPr lang="it-IT" dirty="0"/>
              <a:t>• x = vettore binario degli asset selezionati (0 = escluso, 1 = incluso)</a:t>
            </a:r>
          </a:p>
          <a:p>
            <a:br>
              <a:rPr dirty="0"/>
            </a:br>
            <a:r>
              <a:rPr dirty="0" err="1"/>
              <a:t>Problema</a:t>
            </a:r>
            <a:r>
              <a:rPr dirty="0"/>
              <a:t> </a:t>
            </a:r>
            <a:r>
              <a:rPr lang="it-IT" dirty="0" err="1"/>
              <a:t>Permutatorio</a:t>
            </a:r>
            <a:r>
              <a:rPr dirty="0"/>
              <a:t>: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dirty="0"/>
              <a:t>• 2^N </a:t>
            </a:r>
            <a:r>
              <a:rPr dirty="0" err="1"/>
              <a:t>portafogli</a:t>
            </a:r>
            <a:r>
              <a:rPr dirty="0"/>
              <a:t> </a:t>
            </a:r>
            <a:r>
              <a:rPr dirty="0" err="1"/>
              <a:t>possibili</a:t>
            </a:r>
            <a:endParaRPr dirty="0"/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dirty="0"/>
              <a:t>• Con 8 </a:t>
            </a:r>
            <a:r>
              <a:rPr dirty="0" err="1"/>
              <a:t>titoli</a:t>
            </a:r>
            <a:r>
              <a:rPr dirty="0"/>
              <a:t>: 2^8 = 256 </a:t>
            </a:r>
            <a:r>
              <a:rPr dirty="0" err="1"/>
              <a:t>configurazioni</a:t>
            </a:r>
            <a:endParaRPr lang="it-IT" dirty="0"/>
          </a:p>
          <a:p>
            <a:pPr>
              <a:defRPr sz="1800">
                <a:solidFill>
                  <a:srgbClr val="475569"/>
                </a:solidFill>
              </a:defRPr>
            </a:pPr>
            <a:endParaRPr lang="it-IT" dirty="0"/>
          </a:p>
          <a:p>
            <a:pPr>
              <a:defRPr sz="1800">
                <a:solidFill>
                  <a:srgbClr val="47556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>
                <a:solidFill>
                  <a:srgbClr val="002060"/>
                </a:solidFill>
                <a:latin typeface="Georgia" panose="02040502050405020303" pitchFamily="18" charset="0"/>
              </a:rPr>
              <a:t>Modello: </a:t>
            </a:r>
            <a:r>
              <a:rPr lang="it-IT" sz="2800" dirty="0">
                <a:solidFill>
                  <a:srgbClr val="002060"/>
                </a:solidFill>
              </a:rPr>
              <a:t>Markowitz</a:t>
            </a:r>
            <a:r>
              <a:rPr lang="it-IT" sz="2800" dirty="0"/>
              <a:t> – Ottimizzazione Classica - </a:t>
            </a:r>
            <a:r>
              <a:rPr sz="2800" dirty="0">
                <a:solidFill>
                  <a:srgbClr val="002060"/>
                </a:solidFill>
                <a:latin typeface="Georgia" panose="02040502050405020303" pitchFamily="18" charset="0"/>
              </a:rPr>
              <a:t>QUBO</a:t>
            </a:r>
            <a:r>
              <a:rPr lang="it-IT" sz="2800" dirty="0">
                <a:solidFill>
                  <a:srgbClr val="002060"/>
                </a:solidFill>
                <a:latin typeface="Georgia" panose="02040502050405020303" pitchFamily="18" charset="0"/>
              </a:rPr>
              <a:t> </a:t>
            </a:r>
          </a:p>
          <a:p>
            <a:r>
              <a:rPr lang="it-IT" b="1" dirty="0" err="1"/>
              <a:t>Obiettivo:</a:t>
            </a:r>
            <a:r>
              <a:rPr lang="it-IT" dirty="0" err="1"/>
              <a:t>trovare</a:t>
            </a:r>
            <a:r>
              <a:rPr lang="it-IT" dirty="0"/>
              <a:t> il portafoglio che offre il miglior compromesso tra rendimento e rischio.	</a:t>
            </a:r>
          </a:p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endParaRPr lang="it-IT" dirty="0"/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 err="1"/>
              <a:t>Formulazione</a:t>
            </a:r>
            <a:r>
              <a:rPr dirty="0"/>
              <a:t> QUBO:</a:t>
            </a:r>
            <a:r>
              <a:rPr lang="it-IT" dirty="0"/>
              <a:t>  </a:t>
            </a:r>
            <a:r>
              <a:rPr dirty="0"/>
              <a:t>f(x) = </a:t>
            </a:r>
            <a:r>
              <a:rPr dirty="0" err="1"/>
              <a:t>μ^T</a:t>
            </a:r>
            <a:r>
              <a:rPr dirty="0"/>
              <a:t> x - q </a:t>
            </a:r>
            <a:r>
              <a:rPr dirty="0" err="1"/>
              <a:t>x^T</a:t>
            </a:r>
            <a:r>
              <a:rPr dirty="0"/>
              <a:t> Σ x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dirty="0" err="1"/>
              <a:t>Componenti</a:t>
            </a:r>
            <a:r>
              <a:rPr dirty="0"/>
              <a:t> della formula:</a:t>
            </a:r>
            <a:br>
              <a:rPr dirty="0"/>
            </a:br>
            <a:r>
              <a:rPr dirty="0"/>
              <a:t>• </a:t>
            </a:r>
            <a:r>
              <a:rPr dirty="0" err="1"/>
              <a:t>μ^T</a:t>
            </a:r>
            <a:r>
              <a:rPr dirty="0"/>
              <a:t> x = </a:t>
            </a:r>
            <a:r>
              <a:rPr dirty="0" err="1"/>
              <a:t>rendimento</a:t>
            </a:r>
            <a:r>
              <a:rPr dirty="0"/>
              <a:t> </a:t>
            </a:r>
            <a:r>
              <a:rPr dirty="0" err="1"/>
              <a:t>atteso</a:t>
            </a:r>
            <a:r>
              <a:rPr dirty="0"/>
              <a:t> del </a:t>
            </a:r>
            <a:r>
              <a:rPr dirty="0" err="1"/>
              <a:t>portafoglio</a:t>
            </a:r>
            <a:br>
              <a:rPr dirty="0"/>
            </a:br>
            <a:r>
              <a:rPr dirty="0"/>
              <a:t>• </a:t>
            </a:r>
            <a:r>
              <a:rPr dirty="0" err="1"/>
              <a:t>x^T</a:t>
            </a:r>
            <a:r>
              <a:rPr dirty="0"/>
              <a:t> Σ x = </a:t>
            </a:r>
            <a:r>
              <a:rPr dirty="0" err="1"/>
              <a:t>rischio</a:t>
            </a:r>
            <a:r>
              <a:rPr dirty="0"/>
              <a:t> del </a:t>
            </a:r>
            <a:r>
              <a:rPr dirty="0" err="1"/>
              <a:t>portafoglio</a:t>
            </a:r>
            <a:r>
              <a:rPr dirty="0"/>
              <a:t> (</a:t>
            </a:r>
            <a:r>
              <a:rPr dirty="0" err="1"/>
              <a:t>varianza</a:t>
            </a:r>
            <a:r>
              <a:rPr dirty="0"/>
              <a:t>/</a:t>
            </a:r>
            <a:r>
              <a:rPr dirty="0" err="1"/>
              <a:t>covarianza</a:t>
            </a:r>
            <a:r>
              <a:rPr dirty="0"/>
              <a:t>)</a:t>
            </a:r>
            <a:br>
              <a:rPr dirty="0"/>
            </a:br>
            <a:r>
              <a:rPr dirty="0"/>
              <a:t>• q = </a:t>
            </a:r>
            <a:r>
              <a:rPr dirty="0" err="1"/>
              <a:t>coefficiente</a:t>
            </a:r>
            <a:r>
              <a:rPr dirty="0"/>
              <a:t> di </a:t>
            </a:r>
            <a:r>
              <a:rPr dirty="0" err="1"/>
              <a:t>avversione</a:t>
            </a:r>
            <a:r>
              <a:rPr dirty="0"/>
              <a:t> al </a:t>
            </a:r>
            <a:r>
              <a:rPr dirty="0" err="1"/>
              <a:t>rischio</a:t>
            </a:r>
            <a:br>
              <a:rPr dirty="0"/>
            </a:br>
            <a:r>
              <a:rPr dirty="0"/>
              <a:t>• x = </a:t>
            </a:r>
            <a:r>
              <a:rPr dirty="0" err="1"/>
              <a:t>vettore</a:t>
            </a:r>
            <a:r>
              <a:rPr dirty="0"/>
              <a:t> </a:t>
            </a:r>
            <a:r>
              <a:rPr dirty="0" err="1"/>
              <a:t>binario</a:t>
            </a:r>
            <a:r>
              <a:rPr dirty="0"/>
              <a:t> degli asset </a:t>
            </a:r>
            <a:r>
              <a:rPr dirty="0" err="1"/>
              <a:t>selezionati</a:t>
            </a:r>
            <a:r>
              <a:rPr dirty="0"/>
              <a:t> (0 = </a:t>
            </a:r>
            <a:r>
              <a:rPr dirty="0" err="1"/>
              <a:t>escluso</a:t>
            </a:r>
            <a:r>
              <a:rPr dirty="0"/>
              <a:t>, 1 = </a:t>
            </a:r>
            <a:r>
              <a:rPr dirty="0" err="1"/>
              <a:t>incluso</a:t>
            </a:r>
            <a:r>
              <a:rPr dirty="0"/>
              <a:t>)</a:t>
            </a:r>
            <a:endParaRPr lang="it-IT" dirty="0"/>
          </a:p>
          <a:p>
            <a:endParaRPr lang="it-IT" dirty="0"/>
          </a:p>
          <a:p>
            <a:r>
              <a:rPr lang="it-IT" b="1" dirty="0"/>
              <a:t>Interpretazione:</a:t>
            </a:r>
            <a:endParaRPr lang="it-IT" dirty="0"/>
          </a:p>
          <a:p>
            <a:r>
              <a:rPr lang="it-IT" dirty="0"/>
              <a:t>Maggiore è </a:t>
            </a:r>
            <a:r>
              <a:rPr lang="it-IT" b="1" dirty="0" err="1"/>
              <a:t>μᵀx</a:t>
            </a:r>
            <a:r>
              <a:rPr lang="it-IT" dirty="0"/>
              <a:t>, maggiore è il rendimento atteso.</a:t>
            </a:r>
          </a:p>
          <a:p>
            <a:r>
              <a:rPr lang="it-IT" dirty="0"/>
              <a:t>Maggiore è </a:t>
            </a:r>
            <a:r>
              <a:rPr lang="it-IT" b="1" dirty="0" err="1"/>
              <a:t>xᵀΣx</a:t>
            </a:r>
            <a:r>
              <a:rPr lang="it-IT" dirty="0"/>
              <a:t>, maggiore è il rischio.</a:t>
            </a:r>
          </a:p>
          <a:p>
            <a:r>
              <a:rPr lang="it-IT" dirty="0"/>
              <a:t>Il parametro </a:t>
            </a:r>
            <a:r>
              <a:rPr lang="it-IT" b="1" dirty="0"/>
              <a:t>q </a:t>
            </a:r>
            <a:r>
              <a:rPr lang="it-IT" dirty="0"/>
              <a:t>controlla l'equilibrio tra rendimento e rischio.</a:t>
            </a:r>
          </a:p>
          <a:p>
            <a:r>
              <a:rPr lang="it-IT" b="1" dirty="0"/>
              <a:t>Risultato:</a:t>
            </a:r>
            <a:endParaRPr lang="it-IT" dirty="0"/>
          </a:p>
          <a:p>
            <a:r>
              <a:rPr lang="it-IT" dirty="0"/>
              <a:t>L'algoritmo seleziona il portafoglio che </a:t>
            </a:r>
            <a:r>
              <a:rPr lang="it-IT" b="1" dirty="0"/>
              <a:t>massimizza il rendimento atteso </a:t>
            </a:r>
            <a:r>
              <a:rPr lang="it-IT" dirty="0"/>
              <a:t>e </a:t>
            </a:r>
            <a:r>
              <a:rPr lang="it-IT" b="1" dirty="0"/>
              <a:t>minimizza il rischio complessivo</a:t>
            </a:r>
            <a:r>
              <a:rPr lang="it-IT" dirty="0"/>
              <a:t>, trasformando il problema in un modello </a:t>
            </a:r>
            <a:r>
              <a:rPr lang="it-IT" b="1" dirty="0"/>
              <a:t>QUBO (</a:t>
            </a:r>
            <a:r>
              <a:rPr lang="it-IT" b="1" dirty="0" err="1"/>
              <a:t>Quadratic</a:t>
            </a:r>
            <a:r>
              <a:rPr lang="it-IT" b="1" dirty="0"/>
              <a:t> </a:t>
            </a:r>
            <a:r>
              <a:rPr lang="it-IT" b="1" dirty="0" err="1"/>
              <a:t>Unconstrained</a:t>
            </a:r>
            <a:r>
              <a:rPr lang="it-IT" b="1" dirty="0"/>
              <a:t> </a:t>
            </a:r>
            <a:r>
              <a:rPr lang="it-IT" b="1" dirty="0" err="1"/>
              <a:t>Binary</a:t>
            </a:r>
            <a:r>
              <a:rPr lang="it-IT" b="1" dirty="0"/>
              <a:t> </a:t>
            </a:r>
            <a:r>
              <a:rPr lang="it-IT" b="1" dirty="0" err="1"/>
              <a:t>Optimization</a:t>
            </a:r>
            <a:r>
              <a:rPr lang="it-IT" b="1" dirty="0"/>
              <a:t>) </a:t>
            </a:r>
            <a:r>
              <a:rPr lang="it-IT" dirty="0"/>
              <a:t>adatto all'ottimizzazione quantistica tramite </a:t>
            </a:r>
            <a:r>
              <a:rPr lang="it-IT" b="1" dirty="0"/>
              <a:t>QAOA	(Quantum </a:t>
            </a:r>
            <a:r>
              <a:rPr lang="it-IT" b="1" dirty="0" err="1"/>
              <a:t>Approximate</a:t>
            </a:r>
            <a:r>
              <a:rPr lang="it-IT" b="1" dirty="0"/>
              <a:t> </a:t>
            </a:r>
            <a:r>
              <a:rPr lang="it-IT" b="1" dirty="0" err="1"/>
              <a:t>Optimization</a:t>
            </a:r>
            <a:r>
              <a:rPr lang="it-IT" b="1" dirty="0"/>
              <a:t> </a:t>
            </a:r>
            <a:r>
              <a:rPr lang="it-IT" b="1" dirty="0" err="1"/>
              <a:t>Algorithm</a:t>
            </a:r>
            <a:r>
              <a:rPr lang="it-IT" b="1" dirty="0"/>
              <a:t>)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D3C81-277D-C7A7-B1C4-2B4D9C581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3362F8-78A7-6281-80A4-733C8DCB688A}"/>
              </a:ext>
            </a:extLst>
          </p:cNvPr>
          <p:cNvSpPr txBox="1"/>
          <p:nvPr/>
        </p:nvSpPr>
        <p:spPr>
          <a:xfrm>
            <a:off x="731520" y="45720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solidFill>
                  <a:srgbClr val="002060"/>
                </a:solidFill>
              </a:rPr>
              <a:t>Dalla funzione obiettivo all'Hamiltoniano di costo </a:t>
            </a:r>
            <a:r>
              <a:rPr lang="it-IT" sz="2800" dirty="0"/>
              <a:t>	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2AC6BD-843C-B048-18FC-90E901B56666}"/>
              </a:ext>
            </a:extLst>
          </p:cNvPr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0D391-0839-3980-BD86-AADFA320B111}"/>
              </a:ext>
            </a:extLst>
          </p:cNvPr>
          <p:cNvSpPr txBox="1"/>
          <p:nvPr/>
        </p:nvSpPr>
        <p:spPr>
          <a:xfrm>
            <a:off x="731520" y="1645920"/>
            <a:ext cx="10698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dirty="0"/>
              <a:t>Partiamo dalla funzione di Markowitz-QUBO: </a:t>
            </a:r>
          </a:p>
          <a:p>
            <a:r>
              <a:rPr lang="el-GR" dirty="0"/>
              <a:t>𝑓</a:t>
            </a:r>
            <a:r>
              <a:rPr lang="it-IT" dirty="0"/>
              <a:t>(</a:t>
            </a:r>
            <a:r>
              <a:rPr lang="el-GR" dirty="0"/>
              <a:t>𝑥</a:t>
            </a:r>
            <a:r>
              <a:rPr lang="it-IT" dirty="0"/>
              <a:t>)</a:t>
            </a:r>
            <a:r>
              <a:rPr lang="el-GR" dirty="0"/>
              <a:t> = 𝜇</a:t>
            </a:r>
            <a:r>
              <a:rPr lang="it-IT" dirty="0"/>
              <a:t>^</a:t>
            </a:r>
            <a:r>
              <a:rPr lang="el-GR" dirty="0"/>
              <a:t>𝑇𝑥 − 𝑞 𝑥</a:t>
            </a:r>
            <a:r>
              <a:rPr lang="it-IT" dirty="0"/>
              <a:t>^</a:t>
            </a:r>
            <a:r>
              <a:rPr lang="el-GR" dirty="0"/>
              <a:t>𝑇Σ𝑥 </a:t>
            </a:r>
          </a:p>
          <a:p>
            <a:r>
              <a:rPr lang="it-IT" dirty="0"/>
              <a:t>dove: </a:t>
            </a:r>
          </a:p>
          <a:p>
            <a:r>
              <a:rPr lang="it-IT" dirty="0"/>
              <a:t>𝑥𝑖 ∈ [0, 1 ]</a:t>
            </a:r>
          </a:p>
          <a:p>
            <a:endParaRPr lang="it-IT" dirty="0"/>
          </a:p>
          <a:p>
            <a:r>
              <a:rPr lang="it-IT" dirty="0"/>
              <a:t>0= asset escluso </a:t>
            </a:r>
          </a:p>
          <a:p>
            <a:r>
              <a:rPr lang="it-IT" dirty="0"/>
              <a:t>1= asset incluso </a:t>
            </a:r>
          </a:p>
          <a:p>
            <a:endParaRPr lang="it-IT" b="1" dirty="0"/>
          </a:p>
          <a:p>
            <a:pPr>
              <a:defRPr sz="1800">
                <a:solidFill>
                  <a:srgbClr val="475569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2109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Passo 1: Variabili Binarie -&gt; Qubit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Mappatura Qubit: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In un computer quantistico ogni variabile binaria x_i viene rappresentata da un qubit.</a:t>
            </a:r>
            <a:br/>
            <a:br/>
            <a:r>
              <a:t>Esempio:</a:t>
            </a:r>
            <a:br/>
            <a:r>
              <a:t>• IONQ -&gt; x_0 -&gt; q_0</a:t>
            </a:r>
            <a:br/>
            <a:r>
              <a:t>• QBTS -&gt; x_1 -&gt; q_1</a:t>
            </a:r>
            <a:br/>
            <a:r>
              <a:t>• RGTI -&gt; x_2 -&gt; q_2</a:t>
            </a:r>
            <a:br/>
            <a:r>
              <a:t>•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Passo 2: Conversione in Operatori Quantistici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 err="1"/>
              <a:t>Operatori</a:t>
            </a:r>
            <a:r>
              <a:rPr dirty="0"/>
              <a:t> di Pauli: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dirty="0"/>
              <a:t>I computer </a:t>
            </a:r>
            <a:r>
              <a:rPr dirty="0" err="1"/>
              <a:t>quantistici</a:t>
            </a:r>
            <a:r>
              <a:rPr dirty="0"/>
              <a:t> </a:t>
            </a:r>
            <a:r>
              <a:rPr dirty="0" err="1"/>
              <a:t>lavorano</a:t>
            </a:r>
            <a:r>
              <a:rPr dirty="0"/>
              <a:t> con </a:t>
            </a:r>
            <a:r>
              <a:rPr dirty="0" err="1"/>
              <a:t>operatori</a:t>
            </a:r>
            <a:r>
              <a:rPr dirty="0"/>
              <a:t> di Pauli.</a:t>
            </a:r>
            <a:br>
              <a:rPr dirty="0"/>
            </a:br>
            <a:r>
              <a:rPr dirty="0"/>
              <a:t>La </a:t>
            </a:r>
            <a:r>
              <a:rPr dirty="0" err="1"/>
              <a:t>trasformazione</a:t>
            </a:r>
            <a:r>
              <a:rPr dirty="0"/>
              <a:t> standard è:</a:t>
            </a:r>
            <a:br>
              <a:rPr dirty="0"/>
            </a:br>
            <a:br>
              <a:rPr dirty="0"/>
            </a:br>
            <a:r>
              <a:rPr dirty="0" err="1"/>
              <a:t>x_i</a:t>
            </a:r>
            <a:r>
              <a:rPr dirty="0"/>
              <a:t> = (1 - </a:t>
            </a:r>
            <a:r>
              <a:rPr dirty="0" err="1"/>
              <a:t>Z_i</a:t>
            </a:r>
            <a:r>
              <a:rPr dirty="0"/>
              <a:t>) / 2</a:t>
            </a:r>
            <a:br>
              <a:rPr dirty="0"/>
            </a:br>
            <a:br>
              <a:rPr dirty="0"/>
            </a:br>
            <a:r>
              <a:rPr dirty="0"/>
              <a:t>Dove </a:t>
            </a:r>
            <a:r>
              <a:rPr dirty="0" err="1"/>
              <a:t>Z_i</a:t>
            </a:r>
            <a:r>
              <a:rPr dirty="0"/>
              <a:t> è </a:t>
            </a:r>
            <a:r>
              <a:rPr dirty="0" err="1"/>
              <a:t>l'operatore</a:t>
            </a:r>
            <a:r>
              <a:rPr dirty="0"/>
              <a:t> di Pauli-Z </a:t>
            </a:r>
            <a:r>
              <a:rPr dirty="0" err="1"/>
              <a:t>sul</a:t>
            </a:r>
            <a:r>
              <a:rPr dirty="0"/>
              <a:t> qubit </a:t>
            </a:r>
            <a:r>
              <a:rPr dirty="0" err="1"/>
              <a:t>i</a:t>
            </a:r>
            <a:r>
              <a:rPr dirty="0"/>
              <a:t>.</a:t>
            </a:r>
            <a:endParaRPr lang="it-IT" dirty="0"/>
          </a:p>
          <a:p>
            <a:pPr>
              <a:defRPr sz="1800">
                <a:solidFill>
                  <a:srgbClr val="475569"/>
                </a:solidFill>
              </a:defRPr>
            </a:pPr>
            <a:endParaRPr lang="it-IT" dirty="0"/>
          </a:p>
          <a:p>
            <a:endParaRPr lang="it-IT" dirty="0"/>
          </a:p>
          <a:p>
            <a:r>
              <a:rPr lang="it-IT" dirty="0"/>
              <a:t>Stato 	Valore 	</a:t>
            </a:r>
          </a:p>
          <a:p>
            <a:r>
              <a:rPr lang="it-IT" dirty="0"/>
              <a:t>( 0	        \</a:t>
            </a:r>
            <a:r>
              <a:rPr lang="it-IT" dirty="0" err="1"/>
              <a:t>rangle</a:t>
            </a:r>
            <a:r>
              <a:rPr lang="it-IT" dirty="0"/>
              <a:t>) 	</a:t>
            </a:r>
          </a:p>
          <a:p>
            <a:r>
              <a:rPr lang="it-IT" dirty="0"/>
              <a:t>( 1	        \</a:t>
            </a:r>
            <a:r>
              <a:rPr lang="it-IT" dirty="0" err="1"/>
              <a:t>rangle</a:t>
            </a:r>
            <a:r>
              <a:rPr lang="it-IT" dirty="0"/>
              <a:t>	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Passo 3: Sostituzione nella Funzione QUBO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 err="1"/>
              <a:t>Sostituzione</a:t>
            </a:r>
            <a:r>
              <a:rPr dirty="0"/>
              <a:t> </a:t>
            </a:r>
            <a:r>
              <a:rPr dirty="0" err="1"/>
              <a:t>algebrica</a:t>
            </a:r>
            <a:r>
              <a:rPr dirty="0"/>
              <a:t>: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dirty="0"/>
              <a:t>Nella </a:t>
            </a:r>
            <a:r>
              <a:rPr dirty="0" err="1"/>
              <a:t>funzione</a:t>
            </a:r>
            <a:r>
              <a:rPr dirty="0"/>
              <a:t> QUBO f(x) = </a:t>
            </a:r>
            <a:r>
              <a:rPr dirty="0" err="1"/>
              <a:t>Σ_i</a:t>
            </a:r>
            <a:r>
              <a:rPr dirty="0"/>
              <a:t> </a:t>
            </a:r>
            <a:r>
              <a:rPr dirty="0" err="1"/>
              <a:t>a_i</a:t>
            </a:r>
            <a:r>
              <a:rPr dirty="0"/>
              <a:t> </a:t>
            </a:r>
            <a:r>
              <a:rPr dirty="0" err="1"/>
              <a:t>x_i</a:t>
            </a:r>
            <a:r>
              <a:rPr dirty="0"/>
              <a:t> </a:t>
            </a:r>
            <a:r>
              <a:rPr lang="it-IT" dirty="0"/>
              <a:t>-</a:t>
            </a:r>
            <a:r>
              <a:rPr dirty="0"/>
              <a:t> </a:t>
            </a:r>
            <a:r>
              <a:rPr dirty="0" err="1"/>
              <a:t>Σ_ij</a:t>
            </a:r>
            <a:r>
              <a:rPr dirty="0"/>
              <a:t> </a:t>
            </a:r>
            <a:r>
              <a:rPr dirty="0" err="1"/>
              <a:t>b_ij</a:t>
            </a:r>
            <a:r>
              <a:rPr dirty="0"/>
              <a:t> </a:t>
            </a:r>
            <a:r>
              <a:rPr dirty="0" err="1"/>
              <a:t>x_i</a:t>
            </a:r>
            <a:r>
              <a:rPr dirty="0"/>
              <a:t> </a:t>
            </a:r>
            <a:r>
              <a:rPr dirty="0" err="1"/>
              <a:t>x_j</a:t>
            </a:r>
            <a:endParaRPr lang="it-IT" dirty="0"/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sostituisce</a:t>
            </a:r>
            <a:r>
              <a:rPr dirty="0"/>
              <a:t> </a:t>
            </a:r>
            <a:r>
              <a:rPr dirty="0" err="1"/>
              <a:t>x_i</a:t>
            </a:r>
            <a:r>
              <a:rPr dirty="0"/>
              <a:t> = (1 - </a:t>
            </a:r>
            <a:r>
              <a:rPr dirty="0" err="1"/>
              <a:t>Z_i</a:t>
            </a:r>
            <a:r>
              <a:rPr dirty="0"/>
              <a:t>) / 2 </a:t>
            </a:r>
            <a:endParaRPr lang="it-IT" dirty="0"/>
          </a:p>
          <a:p>
            <a:pPr>
              <a:defRPr sz="1800">
                <a:solidFill>
                  <a:srgbClr val="475569"/>
                </a:solidFill>
              </a:defRPr>
            </a:pPr>
            <a:endParaRPr lang="it-IT" dirty="0"/>
          </a:p>
          <a:p>
            <a:r>
              <a:rPr dirty="0" err="1"/>
              <a:t>ottenendo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formula </a:t>
            </a:r>
            <a:r>
              <a:rPr dirty="0" err="1"/>
              <a:t>composta</a:t>
            </a:r>
            <a:r>
              <a:rPr dirty="0"/>
              <a:t> da:</a:t>
            </a:r>
            <a:br>
              <a:rPr dirty="0"/>
            </a:br>
            <a:br>
              <a:rPr dirty="0"/>
            </a:br>
            <a:r>
              <a:rPr dirty="0"/>
              <a:t>• (</a:t>
            </a:r>
            <a:r>
              <a:rPr dirty="0" err="1"/>
              <a:t>identità</a:t>
            </a:r>
            <a:r>
              <a:rPr dirty="0"/>
              <a:t>)</a:t>
            </a:r>
            <a:r>
              <a:rPr lang="it-IT" dirty="0"/>
              <a:t>    𝐼 	</a:t>
            </a:r>
          </a:p>
          <a:p>
            <a:br>
              <a:rPr dirty="0"/>
            </a:br>
            <a:r>
              <a:rPr dirty="0"/>
              <a:t>• (</a:t>
            </a:r>
            <a:r>
              <a:rPr dirty="0" err="1"/>
              <a:t>interazioni</a:t>
            </a:r>
            <a:r>
              <a:rPr dirty="0"/>
              <a:t> </a:t>
            </a:r>
            <a:r>
              <a:rPr dirty="0" err="1"/>
              <a:t>singole</a:t>
            </a:r>
            <a:r>
              <a:rPr dirty="0"/>
              <a:t>)</a:t>
            </a:r>
            <a:r>
              <a:rPr lang="it-IT" dirty="0"/>
              <a:t>   𝑍𝑖 	</a:t>
            </a:r>
          </a:p>
          <a:p>
            <a:br>
              <a:rPr dirty="0"/>
            </a:br>
            <a:r>
              <a:rPr dirty="0"/>
              <a:t>• (</a:t>
            </a:r>
            <a:r>
              <a:rPr dirty="0" err="1"/>
              <a:t>interazioni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coppie</a:t>
            </a:r>
            <a:r>
              <a:rPr dirty="0"/>
              <a:t> di qubit)</a:t>
            </a:r>
            <a:r>
              <a:rPr lang="it-IT" dirty="0"/>
              <a:t> 𝑍𝑖𝑍𝑗 	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795EA-A544-1202-D324-7747B0C53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FC262D-EF85-926F-413A-32D94B995ECB}"/>
              </a:ext>
            </a:extLst>
          </p:cNvPr>
          <p:cNvSpPr txBox="1"/>
          <p:nvPr/>
        </p:nvSpPr>
        <p:spPr>
          <a:xfrm>
            <a:off x="731520" y="45720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rPr lang="it-IT" dirty="0"/>
              <a:t>Passo 4:</a:t>
            </a:r>
            <a:r>
              <a:rPr dirty="0"/>
              <a:t>Cost Hamiltonian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2B8542-35D1-DCA3-AE5E-8416F7E9F5AF}"/>
              </a:ext>
            </a:extLst>
          </p:cNvPr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DEF41-8F32-9C27-9E2D-A00709EDFB7A}"/>
              </a:ext>
            </a:extLst>
          </p:cNvPr>
          <p:cNvSpPr txBox="1"/>
          <p:nvPr/>
        </p:nvSpPr>
        <p:spPr>
          <a:xfrm>
            <a:off x="731520" y="1645920"/>
            <a:ext cx="1069848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dirty="0"/>
              <a:t>L'Hamiltoniano di costo è la rappresentazione quantistica della funzione obiettivo QUBO. </a:t>
            </a:r>
          </a:p>
          <a:p>
            <a:r>
              <a:rPr lang="el-GR" dirty="0"/>
              <a:t>𝑓 </a:t>
            </a:r>
            <a:r>
              <a:rPr lang="it-IT" dirty="0"/>
              <a:t>(</a:t>
            </a:r>
            <a:r>
              <a:rPr lang="el-GR" dirty="0"/>
              <a:t>𝑥</a:t>
            </a:r>
            <a:r>
              <a:rPr lang="it-IT" dirty="0"/>
              <a:t>)</a:t>
            </a:r>
            <a:r>
              <a:rPr lang="el-GR" dirty="0"/>
              <a:t> = 𝜇𝑇 𝑥 − 𝑞 𝑥𝑇Σ𝑥 </a:t>
            </a:r>
          </a:p>
          <a:p>
            <a:endParaRPr lang="it-IT" dirty="0"/>
          </a:p>
          <a:p>
            <a:r>
              <a:rPr lang="it-IT" dirty="0"/>
              <a:t>Attraverso la trasformazione 𝑥𝑖 = (1 − 𝑍𝑖)/ 2 </a:t>
            </a:r>
          </a:p>
          <a:p>
            <a:endParaRPr lang="it-IT" dirty="0"/>
          </a:p>
          <a:p>
            <a:r>
              <a:rPr lang="it-IT" dirty="0"/>
              <a:t>la funzione finanziaria viene convertita in un operatore quantistico: 	</a:t>
            </a:r>
          </a:p>
          <a:p>
            <a:pPr algn="l"/>
            <a:endParaRPr lang="it-IT" sz="1600" b="0" i="0" u="none" strike="noStrike" baseline="0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r>
              <a:rPr lang="si-LK" sz="2400" b="0" i="0" u="none" strike="noStrike" baseline="0" dirty="0">
                <a:solidFill>
                  <a:srgbClr val="000000"/>
                </a:solidFill>
                <a:latin typeface="Cambria Math" panose="02040503050406030204" pitchFamily="18" charset="0"/>
              </a:rPr>
              <a:t>𝐻𝐶 = </a:t>
            </a:r>
            <a:r>
              <a:rPr lang="el-GR" sz="2400" dirty="0"/>
              <a:t>Σ</a:t>
            </a:r>
            <a:r>
              <a:rPr lang="si-LK" sz="2400" b="0" i="0" u="none" strike="noStrike" baseline="0" dirty="0">
                <a:solidFill>
                  <a:srgbClr val="000000"/>
                </a:solidFill>
                <a:latin typeface="Cambria Math" panose="02040503050406030204" pitchFamily="18" charset="0"/>
              </a:rPr>
              <a:t>𝑖 ℎ𝑖 𝑍𝑖 + </a:t>
            </a:r>
            <a:r>
              <a:rPr lang="el-GR" sz="2400" dirty="0"/>
              <a:t>Σ</a:t>
            </a:r>
            <a:r>
              <a:rPr lang="si-LK" sz="2400" b="0" i="0" u="none" strike="noStrike" baseline="0" dirty="0">
                <a:solidFill>
                  <a:srgbClr val="000000"/>
                </a:solidFill>
                <a:latin typeface="Cambria Math" panose="02040503050406030204" pitchFamily="18" charset="0"/>
              </a:rPr>
              <a:t>𝑖,𝑗 𝐽𝑖𝑗 𝑍𝑖𝑍𝑗 </a:t>
            </a:r>
            <a:r>
              <a:rPr lang="si-LK" sz="1600" b="0" i="0" u="none" strike="noStrike" baseline="0" dirty="0">
                <a:solidFill>
                  <a:srgbClr val="000000"/>
                </a:solidFill>
                <a:latin typeface="Cambria Math" panose="02040503050406030204" pitchFamily="18" charset="0"/>
              </a:rPr>
              <a:t>	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endParaRPr lang="it-IT" dirty="0"/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lang="it-IT" dirty="0"/>
              <a:t>Dove:</a:t>
            </a:r>
            <a:br>
              <a:rPr lang="it-IT" dirty="0"/>
            </a:br>
            <a:r>
              <a:rPr lang="it-IT" dirty="0"/>
              <a:t>• </a:t>
            </a:r>
            <a:r>
              <a:rPr lang="it-IT" dirty="0" err="1"/>
              <a:t>h_i</a:t>
            </a:r>
            <a:r>
              <a:rPr lang="it-IT" dirty="0"/>
              <a:t> rappresentano il contributo del singolo asset</a:t>
            </a:r>
            <a:br>
              <a:rPr lang="it-IT" dirty="0"/>
            </a:br>
            <a:r>
              <a:rPr lang="it-IT" dirty="0"/>
              <a:t>• </a:t>
            </a:r>
            <a:r>
              <a:rPr lang="it-IT" dirty="0" err="1"/>
              <a:t>J_ij</a:t>
            </a:r>
            <a:r>
              <a:rPr lang="it-IT" dirty="0"/>
              <a:t> rappresentano le correlazioni tra asset</a:t>
            </a:r>
          </a:p>
          <a:p>
            <a:endParaRPr lang="it-IT" dirty="0"/>
          </a:p>
          <a:p>
            <a:r>
              <a:rPr lang="it-IT" dirty="0"/>
              <a:t>che codifica rendimento atteso e rischio del portafoglio. </a:t>
            </a:r>
          </a:p>
          <a:p>
            <a:r>
              <a:rPr lang="it-IT" b="1" dirty="0"/>
              <a:t>QAOA utilizza questo Hamiltoniano per guidare la ricerca della configurazione di asset con il miglior compromesso rischio-rendimento.</a:t>
            </a:r>
            <a:r>
              <a:rPr lang="it-IT" dirty="0"/>
              <a:t>	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endParaRPr lang="it-IT" dirty="0"/>
          </a:p>
          <a:p>
            <a:pPr>
              <a:defRPr sz="2200" b="1">
                <a:solidFill>
                  <a:srgbClr val="0F172A"/>
                </a:solidFill>
              </a:defRPr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19103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Interpretazione Finanziaria dell'Hamiltoniano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b="1" dirty="0"/>
              <a:t>Termine lineare     </a:t>
            </a:r>
            <a:r>
              <a:rPr lang="it-IT" dirty="0"/>
              <a:t>𝜇𝑖 𝑥𝑖 </a:t>
            </a:r>
          </a:p>
          <a:p>
            <a:r>
              <a:rPr lang="it-IT" dirty="0"/>
              <a:t>rappresenta il contributo del rendimento del titolo. </a:t>
            </a:r>
          </a:p>
          <a:p>
            <a:r>
              <a:rPr lang="it-IT" dirty="0"/>
              <a:t>Dopo la trasformazione contribuisce ai coefficienti ℎ𝑖 . </a:t>
            </a:r>
          </a:p>
          <a:p>
            <a:endParaRPr lang="it-IT" dirty="0"/>
          </a:p>
          <a:p>
            <a:r>
              <a:rPr lang="it-IT" b="1" dirty="0"/>
              <a:t>Termine quadratico </a:t>
            </a:r>
            <a:r>
              <a:rPr lang="el-GR" dirty="0"/>
              <a:t>Σ𝑖𝑗𝑥𝑖 𝑥𝑗 </a:t>
            </a:r>
            <a:endParaRPr lang="it-IT" dirty="0"/>
          </a:p>
          <a:p>
            <a:endParaRPr lang="el-GR" dirty="0"/>
          </a:p>
          <a:p>
            <a:r>
              <a:rPr lang="it-IT" dirty="0"/>
              <a:t>rappresenta il rischio dovuto alla correlazione tra due titoli. </a:t>
            </a:r>
          </a:p>
          <a:p>
            <a:r>
              <a:rPr lang="it-IT" dirty="0"/>
              <a:t>Dopo la trasformazione genera termini: 𝑍𝑖𝑍𝑗 </a:t>
            </a:r>
          </a:p>
          <a:p>
            <a:endParaRPr lang="it-IT" dirty="0"/>
          </a:p>
          <a:p>
            <a:r>
              <a:rPr lang="it-IT" dirty="0"/>
              <a:t>che descrivono l'interazione tra due qubit.	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50CA-2F3A-F4F4-AA5C-F9C26380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FB031F-ABF7-805D-30F0-AF895EC0CAA9}"/>
              </a:ext>
            </a:extLst>
          </p:cNvPr>
          <p:cNvSpPr txBox="1"/>
          <p:nvPr/>
        </p:nvSpPr>
        <p:spPr>
          <a:xfrm>
            <a:off x="731520" y="457200"/>
            <a:ext cx="10698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rPr lang="it-IT" b="1" dirty="0"/>
              <a:t>IN SINTESI: QAOA</a:t>
            </a:r>
          </a:p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rPr lang="it-IT" b="1" dirty="0"/>
              <a:t> 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72BA27-DBC3-7E21-4F87-A9A41C18A2E3}"/>
              </a:ext>
            </a:extLst>
          </p:cNvPr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0C7E5-2727-C59B-3B7F-216D07A4AAC3}"/>
              </a:ext>
            </a:extLst>
          </p:cNvPr>
          <p:cNvSpPr txBox="1"/>
          <p:nvPr/>
        </p:nvSpPr>
        <p:spPr>
          <a:xfrm>
            <a:off x="731520" y="1645920"/>
            <a:ext cx="1069848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Quantum </a:t>
            </a:r>
            <a:r>
              <a:rPr lang="it-IT" sz="1200" dirty="0" err="1">
                <a:solidFill>
                  <a:srgbClr val="000000"/>
                </a:solidFill>
                <a:latin typeface="Segoe UI" panose="020B0502040204020203" pitchFamily="34" charset="0"/>
              </a:rPr>
              <a:t>Approximate</a:t>
            </a:r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latin typeface="Segoe UI" panose="020B0502040204020203" pitchFamily="34" charset="0"/>
              </a:rPr>
              <a:t>Optimization</a:t>
            </a:r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latin typeface="Segoe UI" panose="020B0502040204020203" pitchFamily="34" charset="0"/>
              </a:rPr>
              <a:t>Algorithm</a:t>
            </a:r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: </a:t>
            </a:r>
          </a:p>
          <a:p>
            <a:endParaRPr lang="it-IT" sz="12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Il problema QUBO viene codificato in un </a:t>
            </a:r>
            <a:r>
              <a:rPr lang="it-IT" sz="1200" b="1" dirty="0">
                <a:solidFill>
                  <a:srgbClr val="000000"/>
                </a:solidFill>
                <a:latin typeface="Segoe UI" panose="020B0502040204020203" pitchFamily="34" charset="0"/>
              </a:rPr>
              <a:t>Hamiltoniano di costo </a:t>
            </a:r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con gli operatori di Pauli </a:t>
            </a:r>
          </a:p>
          <a:p>
            <a:endParaRPr lang="it-IT" sz="12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QAOA: </a:t>
            </a: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prepara uno stato quantistico iniziale; </a:t>
            </a: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esplora simultaneamente molte configurazioni di portafoglio; </a:t>
            </a: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valuta la funzione obiettivo; </a:t>
            </a:r>
          </a:p>
          <a:p>
            <a:endParaRPr lang="it-IT" sz="12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ricerca la configurazione che massimizza:   </a:t>
            </a:r>
            <a:r>
              <a:rPr lang="el-GR" sz="1200" dirty="0">
                <a:solidFill>
                  <a:srgbClr val="000000"/>
                </a:solidFill>
                <a:latin typeface="Cambria Math" panose="02040503050406030204" pitchFamily="18" charset="0"/>
              </a:rPr>
              <a:t>𝑓 </a:t>
            </a:r>
            <a:r>
              <a:rPr lang="it-IT" sz="1200" dirty="0">
                <a:solidFill>
                  <a:srgbClr val="000000"/>
                </a:solidFill>
                <a:latin typeface="Cambria Math" panose="02040503050406030204" pitchFamily="18" charset="0"/>
              </a:rPr>
              <a:t>(</a:t>
            </a:r>
            <a:r>
              <a:rPr lang="el-GR" sz="1200" dirty="0">
                <a:solidFill>
                  <a:srgbClr val="000000"/>
                </a:solidFill>
                <a:latin typeface="Cambria Math" panose="02040503050406030204" pitchFamily="18" charset="0"/>
              </a:rPr>
              <a:t>𝑥 </a:t>
            </a:r>
            <a:r>
              <a:rPr lang="it-IT" sz="1200" dirty="0">
                <a:solidFill>
                  <a:srgbClr val="000000"/>
                </a:solidFill>
                <a:latin typeface="Cambria Math" panose="02040503050406030204" pitchFamily="18" charset="0"/>
              </a:rPr>
              <a:t>) </a:t>
            </a:r>
            <a:r>
              <a:rPr lang="el-GR" sz="1200" dirty="0">
                <a:solidFill>
                  <a:srgbClr val="000000"/>
                </a:solidFill>
                <a:latin typeface="Cambria Math" panose="02040503050406030204" pitchFamily="18" charset="0"/>
              </a:rPr>
              <a:t>= 𝜇</a:t>
            </a:r>
            <a:r>
              <a:rPr lang="it-IT" sz="1200" dirty="0">
                <a:solidFill>
                  <a:srgbClr val="000000"/>
                </a:solidFill>
                <a:latin typeface="Cambria Math" panose="02040503050406030204" pitchFamily="18" charset="0"/>
              </a:rPr>
              <a:t>^</a:t>
            </a:r>
            <a:r>
              <a:rPr lang="el-GR" sz="1200" dirty="0">
                <a:solidFill>
                  <a:srgbClr val="000000"/>
                </a:solidFill>
                <a:latin typeface="Cambria Math" panose="02040503050406030204" pitchFamily="18" charset="0"/>
              </a:rPr>
              <a:t>𝑇 𝑥 − 𝑞 𝑥</a:t>
            </a:r>
            <a:r>
              <a:rPr lang="it-IT" sz="1200" dirty="0">
                <a:solidFill>
                  <a:srgbClr val="000000"/>
                </a:solidFill>
                <a:latin typeface="Cambria Math" panose="02040503050406030204" pitchFamily="18" charset="0"/>
              </a:rPr>
              <a:t>^</a:t>
            </a:r>
            <a:r>
              <a:rPr lang="el-GR" sz="1200" dirty="0">
                <a:solidFill>
                  <a:srgbClr val="000000"/>
                </a:solidFill>
                <a:latin typeface="Cambria Math" panose="02040503050406030204" pitchFamily="18" charset="0"/>
              </a:rPr>
              <a:t>𝑇Σ𝑥 </a:t>
            </a:r>
            <a:endParaRPr lang="it-IT" sz="1200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endParaRPr lang="el-GR" sz="12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it-IT" sz="1200" b="1" dirty="0">
                <a:solidFill>
                  <a:srgbClr val="000000"/>
                </a:solidFill>
                <a:latin typeface="Segoe UI" panose="020B0502040204020203" pitchFamily="34" charset="0"/>
              </a:rPr>
              <a:t>Componenti della formula: </a:t>
            </a:r>
            <a:endParaRPr lang="it-IT" sz="12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it-IT" sz="1200" b="1" dirty="0" err="1">
                <a:solidFill>
                  <a:srgbClr val="000000"/>
                </a:solidFill>
                <a:latin typeface="Segoe UI" panose="020B0502040204020203" pitchFamily="34" charset="0"/>
              </a:rPr>
              <a:t>μᵀx</a:t>
            </a:r>
            <a:r>
              <a:rPr lang="it-IT" sz="1200" b="1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= rendimento atteso del portafoglio </a:t>
            </a:r>
          </a:p>
          <a:p>
            <a:r>
              <a:rPr lang="it-IT" sz="1200" b="1" dirty="0" err="1">
                <a:solidFill>
                  <a:srgbClr val="000000"/>
                </a:solidFill>
                <a:latin typeface="Segoe UI" panose="020B0502040204020203" pitchFamily="34" charset="0"/>
              </a:rPr>
              <a:t>xᵀΣx</a:t>
            </a:r>
            <a:r>
              <a:rPr lang="it-IT" sz="1200" b="1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= rischio del portafoglio (varianza/covarianza) </a:t>
            </a:r>
          </a:p>
          <a:p>
            <a:r>
              <a:rPr lang="it-IT" sz="1200" b="1" dirty="0">
                <a:solidFill>
                  <a:srgbClr val="000000"/>
                </a:solidFill>
                <a:latin typeface="Segoe UI" panose="020B0502040204020203" pitchFamily="34" charset="0"/>
              </a:rPr>
              <a:t>q = coefficiente di avversione al rischio </a:t>
            </a:r>
            <a:endParaRPr lang="it-IT" sz="12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it-IT" sz="1200" b="1" dirty="0">
                <a:solidFill>
                  <a:srgbClr val="000000"/>
                </a:solidFill>
                <a:latin typeface="Segoe UI" panose="020B0502040204020203" pitchFamily="34" charset="0"/>
              </a:rPr>
              <a:t>x = vettore binario degli asset selezionati (0 = escluso, 1 = incluso) </a:t>
            </a:r>
            <a:endParaRPr lang="it-IT" sz="12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endParaRPr lang="it-IT" sz="12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it-IT" sz="1200" b="1" dirty="0">
                <a:solidFill>
                  <a:srgbClr val="000000"/>
                </a:solidFill>
                <a:latin typeface="Segoe UI" panose="020B0502040204020203" pitchFamily="34" charset="0"/>
              </a:rPr>
              <a:t>Output </a:t>
            </a:r>
            <a:endParaRPr lang="it-IT" sz="12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Asset selezionati </a:t>
            </a: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Rendimento atteso </a:t>
            </a: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Rischio del portafoglio </a:t>
            </a: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Sharpe Ratio </a:t>
            </a: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Portafoglio ottimale. </a:t>
            </a:r>
          </a:p>
          <a:p>
            <a:r>
              <a:rPr lang="it-IT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Il modello di Markowitz viene trasformato in un problema QUBO, che può essere ottimizzato tramite QAOA per individuare il portafoglio più efficiente. 	</a:t>
            </a:r>
          </a:p>
          <a:p>
            <a:r>
              <a:rPr lang="it-IT" sz="1200" dirty="0">
                <a:solidFill>
                  <a:srgbClr val="000000"/>
                </a:solidFill>
                <a:latin typeface="Segoe UI" panose="020B0502040204020203" pitchFamily="34" charset="0"/>
              </a:rPr>
              <a:t>QAOA ricerca la configurazione di asset che massimizza il rendimento atteso e controlla il rischio complessivo del portafoglio.</a:t>
            </a:r>
            <a:r>
              <a:rPr lang="it-IT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80211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sz="2800" b="1" dirty="0">
                <a:solidFill>
                  <a:srgbClr val="002060"/>
                </a:solidFill>
              </a:rPr>
              <a:t>Portafoglio Ottimale </a:t>
            </a:r>
            <a:r>
              <a:rPr lang="it-IT" dirty="0"/>
              <a:t>	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dirty="0"/>
              <a:t>Selezione degli asset che massimizzano la funzione obiettivo:  </a:t>
            </a:r>
            <a:r>
              <a:rPr lang="el-GR" dirty="0"/>
              <a:t>𝑓 </a:t>
            </a:r>
            <a:r>
              <a:rPr lang="it-IT" dirty="0"/>
              <a:t>(</a:t>
            </a:r>
            <a:r>
              <a:rPr lang="el-GR" dirty="0"/>
              <a:t>𝑥 </a:t>
            </a:r>
            <a:r>
              <a:rPr lang="it-IT" dirty="0"/>
              <a:t>)</a:t>
            </a:r>
            <a:r>
              <a:rPr lang="el-GR" dirty="0"/>
              <a:t>= 𝜇</a:t>
            </a:r>
            <a:r>
              <a:rPr lang="it-IT" dirty="0"/>
              <a:t>^T</a:t>
            </a:r>
            <a:r>
              <a:rPr lang="el-GR" dirty="0"/>
              <a:t>𝑥 − 𝑞 𝑥</a:t>
            </a:r>
            <a:r>
              <a:rPr lang="it-IT" dirty="0"/>
              <a:t>^</a:t>
            </a:r>
            <a:r>
              <a:rPr lang="el-GR" dirty="0"/>
              <a:t>𝑇Σ𝑥 </a:t>
            </a:r>
          </a:p>
          <a:p>
            <a:r>
              <a:rPr lang="it-IT" b="1" dirty="0"/>
              <a:t>Componenti della formula: </a:t>
            </a:r>
            <a:endParaRPr lang="it-IT" dirty="0"/>
          </a:p>
          <a:p>
            <a:r>
              <a:rPr lang="it-IT" b="1" dirty="0" err="1"/>
              <a:t>μᵀx</a:t>
            </a:r>
            <a:r>
              <a:rPr lang="it-IT" b="1" dirty="0"/>
              <a:t> </a:t>
            </a:r>
            <a:r>
              <a:rPr lang="it-IT" dirty="0"/>
              <a:t>= rendimento atteso del portafoglio </a:t>
            </a:r>
          </a:p>
          <a:p>
            <a:r>
              <a:rPr lang="it-IT" b="1" dirty="0" err="1"/>
              <a:t>xᵀΣx</a:t>
            </a:r>
            <a:r>
              <a:rPr lang="it-IT" b="1" dirty="0"/>
              <a:t> </a:t>
            </a:r>
            <a:r>
              <a:rPr lang="it-IT" dirty="0"/>
              <a:t>= rischio del portafoglio (varianza/covarianza) </a:t>
            </a:r>
          </a:p>
          <a:p>
            <a:r>
              <a:rPr lang="it-IT" b="1" dirty="0"/>
              <a:t>q = coefficiente di avversione al rischio </a:t>
            </a:r>
            <a:endParaRPr lang="it-IT" dirty="0"/>
          </a:p>
          <a:p>
            <a:r>
              <a:rPr lang="it-IT" b="1" dirty="0"/>
              <a:t>x = vettore binario degli asset selezionati (0 = escluso, 1 = incluso) </a:t>
            </a:r>
            <a:endParaRPr lang="it-IT" dirty="0"/>
          </a:p>
          <a:p>
            <a:endParaRPr lang="it-IT" dirty="0"/>
          </a:p>
          <a:p>
            <a:r>
              <a:rPr lang="it-IT" dirty="0"/>
              <a:t>e minimizzano il rischio complessivo. </a:t>
            </a:r>
          </a:p>
          <a:p>
            <a:r>
              <a:rPr lang="it-IT" b="1" dirty="0"/>
              <a:t>Output: </a:t>
            </a:r>
            <a:endParaRPr lang="it-IT" dirty="0"/>
          </a:p>
          <a:p>
            <a:r>
              <a:rPr lang="it-IT" dirty="0"/>
              <a:t>Asset selezionati </a:t>
            </a:r>
          </a:p>
          <a:p>
            <a:r>
              <a:rPr lang="it-IT" dirty="0"/>
              <a:t>Rendimento atteso </a:t>
            </a:r>
          </a:p>
          <a:p>
            <a:r>
              <a:rPr lang="it-IT" dirty="0"/>
              <a:t>Rischio </a:t>
            </a:r>
          </a:p>
          <a:p>
            <a:r>
              <a:rPr lang="it-IT" dirty="0"/>
              <a:t>Sharpe Ratio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	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531EF-EFA7-986C-0B14-71CF08B6A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DAA32C-3FC2-A90A-D2F6-5FB49155A608}"/>
              </a:ext>
            </a:extLst>
          </p:cNvPr>
          <p:cNvSpPr txBox="1"/>
          <p:nvPr/>
        </p:nvSpPr>
        <p:spPr>
          <a:xfrm>
            <a:off x="731520" y="457200"/>
            <a:ext cx="106984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sz="2800" b="1" dirty="0">
                <a:solidFill>
                  <a:srgbClr val="002060"/>
                </a:solidFill>
              </a:rPr>
              <a:t>Sharpe Ratio</a:t>
            </a:r>
            <a:r>
              <a:rPr lang="it-IT" dirty="0"/>
              <a:t>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759ED-2838-9FD1-7E74-8683FAF12433}"/>
              </a:ext>
            </a:extLst>
          </p:cNvPr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1AFC6-BB7D-708E-289B-7BBE42F65F71}"/>
              </a:ext>
            </a:extLst>
          </p:cNvPr>
          <p:cNvSpPr txBox="1"/>
          <p:nvPr/>
        </p:nvSpPr>
        <p:spPr>
          <a:xfrm>
            <a:off x="731520" y="1645920"/>
            <a:ext cx="1069848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sz="1400" dirty="0"/>
              <a:t>𝑆ℎ𝑎𝑟𝑝𝑒= (𝑅𝑝−𝑅𝑓)/𝜎𝑝</a:t>
            </a:r>
          </a:p>
          <a:p>
            <a:r>
              <a:rPr lang="it-IT" sz="1400" b="1" dirty="0"/>
              <a:t>Misura il rendimento ottenuto per ogni unità di rischio assunta.</a:t>
            </a:r>
            <a:endParaRPr lang="it-IT" sz="1400" dirty="0"/>
          </a:p>
          <a:p>
            <a:r>
              <a:rPr lang="it-IT" sz="1400" b="1" dirty="0"/>
              <a:t>Dove:</a:t>
            </a:r>
            <a:endParaRPr lang="it-IT" sz="1400" dirty="0"/>
          </a:p>
          <a:p>
            <a:r>
              <a:rPr lang="it-IT" sz="1400" b="1" dirty="0"/>
              <a:t>Rₚ= rendimento atteso del portafoglio</a:t>
            </a:r>
            <a:endParaRPr lang="it-IT" sz="1400" dirty="0"/>
          </a:p>
          <a:p>
            <a:r>
              <a:rPr lang="it-IT" sz="1400" b="1" dirty="0"/>
              <a:t>Rₑ</a:t>
            </a:r>
            <a:r>
              <a:rPr lang="it-IT" sz="1400" dirty="0"/>
              <a:t>= tasso privo di rischio (Risk-Free Rate)</a:t>
            </a:r>
          </a:p>
          <a:p>
            <a:r>
              <a:rPr lang="el-GR" sz="1400" b="1" dirty="0"/>
              <a:t>σ</a:t>
            </a:r>
            <a:r>
              <a:rPr lang="it-IT" sz="1400" b="1" dirty="0"/>
              <a:t>ₚ= volatilità del portafoglio</a:t>
            </a:r>
            <a:endParaRPr lang="it-IT" sz="1400" dirty="0"/>
          </a:p>
          <a:p>
            <a:endParaRPr lang="it-IT" sz="1400" dirty="0"/>
          </a:p>
          <a:p>
            <a:r>
              <a:rPr lang="it-IT" sz="1400" b="1" dirty="0"/>
              <a:t>Interpretazione</a:t>
            </a:r>
            <a:endParaRPr lang="it-IT" sz="1400" dirty="0"/>
          </a:p>
          <a:p>
            <a:r>
              <a:rPr lang="it-IT" sz="1400" dirty="0"/>
              <a:t>Sharpe Ratio più alto → migliore efficienza del portafoglio</a:t>
            </a:r>
          </a:p>
          <a:p>
            <a:r>
              <a:rPr lang="it-IT" sz="1400" dirty="0"/>
              <a:t>Maggiore rendimento a parità di rischio</a:t>
            </a:r>
          </a:p>
          <a:p>
            <a:r>
              <a:rPr lang="it-IT" sz="1400" dirty="0"/>
              <a:t>Minore rischio a parità di rendimento</a:t>
            </a:r>
          </a:p>
          <a:p>
            <a:r>
              <a:rPr lang="it-IT" sz="1400" b="1" dirty="0"/>
              <a:t>Valori tipici</a:t>
            </a:r>
            <a:r>
              <a:rPr lang="it-IT" sz="1400" dirty="0"/>
              <a:t>	</a:t>
            </a:r>
          </a:p>
          <a:p>
            <a:r>
              <a:rPr lang="it-IT" sz="1400" dirty="0"/>
              <a:t>Sharpe Ratio	Valutazione	</a:t>
            </a:r>
          </a:p>
          <a:p>
            <a:r>
              <a:rPr lang="it-IT" sz="1400" dirty="0"/>
              <a:t>&lt; 1	   Modesto	</a:t>
            </a:r>
          </a:p>
          <a:p>
            <a:r>
              <a:rPr lang="it-IT" sz="1400" dirty="0"/>
              <a:t>1 -2	   Buono	</a:t>
            </a:r>
          </a:p>
          <a:p>
            <a:r>
              <a:rPr lang="it-IT" sz="1400" dirty="0"/>
              <a:t>2 -3	   Molto Buono	</a:t>
            </a:r>
          </a:p>
          <a:p>
            <a:r>
              <a:rPr lang="it-IT" sz="1400" dirty="0"/>
              <a:t>&gt; 3	   Eccellente	</a:t>
            </a:r>
          </a:p>
          <a:p>
            <a:endParaRPr lang="it-IT" dirty="0"/>
          </a:p>
          <a:p>
            <a:r>
              <a:rPr lang="it-IT" b="1" dirty="0"/>
              <a:t>Utilizzando il QAOA si </a:t>
            </a:r>
            <a:r>
              <a:rPr lang="it-IT" b="1" dirty="0" err="1"/>
              <a:t>puo’</a:t>
            </a:r>
            <a:r>
              <a:rPr lang="it-IT" b="1" dirty="0"/>
              <a:t> Misurare il rendimento atteso per ogni unità di rischio assunta.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12869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Pipeline di Ottimizzazione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Flusso Logico: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Dataset -&gt; Rendimenti -&gt; Covarianza -&gt; QUBO -&gt; QAOA -&gt; Portafoglio Ottimale</a:t>
            </a:r>
            <a:br/>
            <a:br/>
            <a:r>
              <a:t>Output:</a:t>
            </a:r>
            <a:br/>
            <a:r>
              <a:t>• Asset selezionati</a:t>
            </a:r>
            <a:br/>
            <a:r>
              <a:t>• Rendimento atteso</a:t>
            </a:r>
            <a:br/>
            <a:r>
              <a:t>• Rischio del portafoglio</a:t>
            </a:r>
            <a:br/>
            <a:r>
              <a:t>• Sharpe Ratio</a:t>
            </a:r>
            <a:br/>
            <a:r>
              <a:t>• Portafoglio ottimale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Assegnazione Qubit (8 Asset)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8 asset -&gt; 8 qubit: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q_0 : IONQ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q_1 : QBTS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q_2 : RGTI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q_3 : IBM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q_4 : GOOGL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q_5 : MSFT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q_6 : NVDA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q_7 : QQQ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Esecuzione IBM Quantum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Setup Architetturale: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• Backend: service.least_busy()</a:t>
            </a:r>
            <a:br/>
            <a:r>
              <a:t>• Esecuzione: SamplerV2</a:t>
            </a:r>
            <a:br/>
            <a:r>
              <a:t>• Algoritmo: QAOA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Confronto tra Approcci di Ottimizzazione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b="1" dirty="0"/>
              <a:t>Brute Force</a:t>
            </a:r>
            <a:endParaRPr lang="it-IT" dirty="0"/>
          </a:p>
          <a:p>
            <a:r>
              <a:rPr lang="it-IT" dirty="0"/>
              <a:t>Valuta </a:t>
            </a:r>
            <a:r>
              <a:rPr lang="it-IT" b="1" dirty="0"/>
              <a:t>tutte le possibili </a:t>
            </a:r>
            <a:r>
              <a:rPr lang="it-IT" b="1" dirty="0" err="1"/>
              <a:t>combinazioni</a:t>
            </a:r>
            <a:r>
              <a:rPr lang="it-IT" dirty="0" err="1"/>
              <a:t>di</a:t>
            </a:r>
            <a:r>
              <a:rPr lang="it-IT" dirty="0"/>
              <a:t> portafoglio.</a:t>
            </a:r>
          </a:p>
          <a:p>
            <a:r>
              <a:rPr lang="it-IT" dirty="0"/>
              <a:t>Garantisce la soluzione ottima globale.</a:t>
            </a:r>
          </a:p>
          <a:p>
            <a:r>
              <a:rPr lang="it-IT" dirty="0"/>
              <a:t>Complessità esponenziale:              2^𝑁</a:t>
            </a:r>
          </a:p>
          <a:p>
            <a:r>
              <a:rPr lang="it-IT" dirty="0"/>
              <a:t>Diventa rapidamente impraticabile all'aumentare del numero di asset.</a:t>
            </a:r>
          </a:p>
          <a:p>
            <a:r>
              <a:rPr lang="it-IT" dirty="0"/>
              <a:t>	</a:t>
            </a:r>
          </a:p>
          <a:p>
            <a:r>
              <a:rPr lang="it-IT" b="1" dirty="0"/>
              <a:t>Ottimizzazione Classica</a:t>
            </a:r>
            <a:endParaRPr lang="it-IT" dirty="0"/>
          </a:p>
          <a:p>
            <a:r>
              <a:rPr lang="it-IT" dirty="0"/>
              <a:t>Utilizza algoritmi matematici e tecniche di programmazione quadratica.</a:t>
            </a:r>
          </a:p>
          <a:p>
            <a:r>
              <a:rPr lang="it-IT" dirty="0"/>
              <a:t>Trova soluzioni in tempi molto ridotti anche per centinaia di asset.</a:t>
            </a:r>
          </a:p>
          <a:p>
            <a:r>
              <a:rPr lang="it-IT" dirty="0"/>
              <a:t>Ampiamente utilizzata nella finanza quantitativa.</a:t>
            </a:r>
          </a:p>
          <a:p>
            <a:r>
              <a:rPr lang="it-IT" dirty="0"/>
              <a:t>Può richiedere semplificazioni quando il problema diventa fortemente combinatorio o vincolato.</a:t>
            </a:r>
          </a:p>
          <a:p>
            <a:r>
              <a:rPr lang="it-IT" dirty="0"/>
              <a:t>	</a:t>
            </a:r>
          </a:p>
          <a:p>
            <a:r>
              <a:rPr lang="it-IT" b="1" dirty="0"/>
              <a:t>QAOA (Quantum </a:t>
            </a:r>
            <a:r>
              <a:rPr lang="it-IT" b="1" dirty="0" err="1"/>
              <a:t>Approximate</a:t>
            </a:r>
            <a:r>
              <a:rPr lang="it-IT" b="1" dirty="0"/>
              <a:t> </a:t>
            </a:r>
            <a:r>
              <a:rPr lang="it-IT" b="1" dirty="0" err="1"/>
              <a:t>Optimization</a:t>
            </a:r>
            <a:r>
              <a:rPr lang="it-IT" b="1" dirty="0"/>
              <a:t> </a:t>
            </a:r>
            <a:r>
              <a:rPr lang="it-IT" b="1" dirty="0" err="1"/>
              <a:t>Algorithm</a:t>
            </a:r>
            <a:r>
              <a:rPr lang="it-IT" b="1" dirty="0"/>
              <a:t>)</a:t>
            </a:r>
            <a:endParaRPr lang="it-IT" dirty="0"/>
          </a:p>
          <a:p>
            <a:r>
              <a:rPr lang="it-IT" dirty="0"/>
              <a:t>Converte il problema in forma </a:t>
            </a:r>
            <a:r>
              <a:rPr lang="it-IT" b="1" dirty="0"/>
              <a:t>QUBO</a:t>
            </a:r>
            <a:r>
              <a:rPr lang="it-IT" dirty="0"/>
              <a:t>.</a:t>
            </a:r>
          </a:p>
          <a:p>
            <a:r>
              <a:rPr lang="it-IT" dirty="0"/>
              <a:t>Utilizza qubit e circuiti quantistici per esplorare lo spazio delle soluzioni.</a:t>
            </a:r>
          </a:p>
          <a:p>
            <a:r>
              <a:rPr lang="it-IT" dirty="0"/>
              <a:t>Ricerca configurazioni ad alto rendimento e basso rischio attraverso l'evoluzione quantistica.</a:t>
            </a:r>
          </a:p>
          <a:p>
            <a:r>
              <a:rPr lang="it-IT" dirty="0"/>
              <a:t>Approccio promettente per problemi di ottimizzazione combinatoria su larga scala.</a:t>
            </a:r>
          </a:p>
          <a:p>
            <a:r>
              <a:rPr lang="it-IT" dirty="0"/>
              <a:t>	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Georgia"/>
              </a:defRPr>
            </a:pPr>
            <a:r>
              <a:t>Conclusioni e Prospettive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6760" y="1645920"/>
            <a:ext cx="1069848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Temi </a:t>
            </a:r>
            <a:r>
              <a:rPr dirty="0" err="1"/>
              <a:t>chiave</a:t>
            </a:r>
            <a:r>
              <a:rPr dirty="0"/>
              <a:t> della </a:t>
            </a:r>
            <a:r>
              <a:rPr dirty="0" err="1"/>
              <a:t>presentazione</a:t>
            </a:r>
            <a:r>
              <a:rPr dirty="0"/>
              <a:t>: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dirty="0"/>
              <a:t>• Finanza </a:t>
            </a:r>
            <a:r>
              <a:rPr dirty="0" err="1"/>
              <a:t>Quantitativa</a:t>
            </a:r>
            <a:endParaRPr dirty="0"/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dirty="0"/>
              <a:t>• QUBO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dirty="0"/>
              <a:t>• QAOA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dirty="0"/>
              <a:t>• IBM Quantum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dirty="0"/>
              <a:t>• Quantum Finance</a:t>
            </a:r>
            <a:endParaRPr lang="it-IT" dirty="0"/>
          </a:p>
          <a:p>
            <a:pPr>
              <a:defRPr sz="2000">
                <a:solidFill>
                  <a:srgbClr val="003366"/>
                </a:solidFill>
              </a:defRPr>
            </a:pPr>
            <a:endParaRPr lang="it-IT" dirty="0"/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lang="it-IT" dirty="0"/>
              <a:t>https://github.com/3394424051/Ottmizzazione-Finanziaria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lang="it-IT" dirty="0">
                <a:hlinkClick r:id="rId2"/>
              </a:rPr>
              <a:t>https://www.youtube.com/watch?v=D5cAo5O6xZM</a:t>
            </a:r>
            <a:endParaRPr lang="it-IT" dirty="0"/>
          </a:p>
          <a:p>
            <a:pPr>
              <a:defRPr sz="2000">
                <a:solidFill>
                  <a:srgbClr val="00336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1449</Words>
  <Application>Microsoft Office PowerPoint</Application>
  <PresentationFormat>Widescreen</PresentationFormat>
  <Paragraphs>208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Georgia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Ciccone, Emilio</cp:lastModifiedBy>
  <cp:revision>9</cp:revision>
  <dcterms:created xsi:type="dcterms:W3CDTF">2013-01-27T09:14:16Z</dcterms:created>
  <dcterms:modified xsi:type="dcterms:W3CDTF">2026-08-24T17:50:39Z</dcterms:modified>
  <cp:category/>
</cp:coreProperties>
</file>